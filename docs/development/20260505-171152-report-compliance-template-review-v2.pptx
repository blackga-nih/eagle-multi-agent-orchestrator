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972800" cy="1097280"/>
          </a:xfrm>
          <a:prstGeom prst="rect">
            <a:avLst/>
          </a:prstGeom>
          <a:noFill/>
        </p:spPr>
        <p:txBody>
          <a:bodyPr wrap="none">
            <a:spAutoFit/>
          </a:bodyPr>
          <a:lstStyle/>
          <a:p>
            <a:r>
              <a:rPr sz="4000" b="1">
                <a:solidFill>
                  <a:srgbClr val="003366"/>
                </a:solidFill>
              </a:rPr>
              <a:t>Compliance Template Review - v2</a:t>
            </a:r>
          </a:p>
        </p:txBody>
      </p:sp>
      <p:sp>
        <p:nvSpPr>
          <p:cNvPr id="4" name="TextBox 3"/>
          <p:cNvSpPr txBox="1"/>
          <p:nvPr/>
        </p:nvSpPr>
        <p:spPr>
          <a:xfrm>
            <a:off x="640080" y="3200400"/>
            <a:ext cx="10972800" cy="731520"/>
          </a:xfrm>
          <a:prstGeom prst="rect">
            <a:avLst/>
          </a:prstGeom>
          <a:noFill/>
        </p:spPr>
        <p:txBody>
          <a:bodyPr wrap="none">
            <a:spAutoFit/>
          </a:bodyPr>
          <a:lstStyle/>
          <a:p>
            <a:r>
              <a:rPr sz="2000">
                <a:solidFill>
                  <a:srgbClr val="1C1C1C"/>
                </a:solidFill>
              </a:rPr>
              <a:t>Eight Acquisition Document Templates - KB-Grounded Drafts</a:t>
            </a:r>
          </a:p>
        </p:txBody>
      </p:sp>
      <p:sp>
        <p:nvSpPr>
          <p:cNvPr id="5" name="TextBox 4"/>
          <p:cNvSpPr txBox="1"/>
          <p:nvPr/>
        </p:nvSpPr>
        <p:spPr>
          <a:xfrm>
            <a:off x="640080" y="4937760"/>
            <a:ext cx="10972800" cy="1371600"/>
          </a:xfrm>
          <a:prstGeom prst="rect">
            <a:avLst/>
          </a:prstGeom>
          <a:noFill/>
        </p:spPr>
        <p:txBody>
          <a:bodyPr wrap="none">
            <a:spAutoFit/>
          </a:bodyPr>
          <a:lstStyle/>
          <a:p>
            <a:r>
              <a:rPr sz="1400">
                <a:solidFill>
                  <a:srgbClr val="555555"/>
                </a:solidFill>
              </a:rPr>
              <a:t>EAGLE Platform Team - NCI Office of Acquisitions</a:t>
            </a:r>
          </a:p>
          <a:p>
            <a:r>
              <a:rPr sz="1400">
                <a:solidFill>
                  <a:srgbClr val="555555"/>
                </a:solidFill>
              </a:rPr>
              <a:t>Date: 2026-05-05</a:t>
            </a:r>
          </a:p>
          <a:p>
            <a:r>
              <a:rPr sz="1400">
                <a:solidFill>
                  <a:srgbClr val="555555"/>
                </a:solidFill>
              </a:rPr>
              <a:t>Audience: Reviewing Compliance Officer</a:t>
            </a:r>
          </a:p>
          <a:p>
            <a:r>
              <a:rPr sz="1400" b="1">
                <a:solidFill>
                  <a:srgbClr val="166B3A"/>
                </a:solidFill>
              </a:rPr>
              <a:t>v2 supersedes v1 - six templates redrafted with EAGLE knowledge base sources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changed since v1</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1000"/>
              </a:spcAft>
            </a:pPr>
            <a:r>
              <a:rPr sz="1500">
                <a:solidFill>
                  <a:srgbClr val="1C1C1C"/>
                </a:solidFill>
              </a:rPr>
              <a:t>*  v1 was drafted from generic FAR/HHSAR knowledge - WITHOUT consulting the EAGLE knowledge base.</a:t>
            </a:r>
          </a:p>
          <a:p>
            <a:pPr>
              <a:spcAft>
                <a:spcPts val="1000"/>
              </a:spcAft>
            </a:pPr>
            <a:r>
              <a:rPr sz="1500">
                <a:solidFill>
                  <a:srgbClr val="1C1C1C"/>
                </a:solidFill>
              </a:rPr>
              <a:t>*  Spot check identified the gap; SSO refresh enabled S3 enumeration of the approved/ prefix.</a:t>
            </a:r>
          </a:p>
          <a:p>
            <a:pPr>
              <a:spcAft>
                <a:spcPts val="1000"/>
              </a:spcAft>
            </a:pPr>
            <a:r>
              <a:rPr sz="1500">
                <a:solidFill>
                  <a:srgbClr val="1C1C1C"/>
                </a:solidFill>
              </a:rPr>
              <a:t>*  KB sources found for 6 of 8 templates; redrafted as v2 with explicit grounding.</a:t>
            </a:r>
          </a:p>
          <a:p>
            <a:pPr>
              <a:spcAft>
                <a:spcPts val="1000"/>
              </a:spcAft>
            </a:pPr>
            <a:r>
              <a:rPr sz="1500">
                <a:solidFill>
                  <a:srgbClr val="1C1C1C"/>
                </a:solidFill>
              </a:rPr>
              <a:t>*  Two templates (qasp, section_889) had no KB source - kept at v1; flagged for officer.</a:t>
            </a:r>
          </a:p>
          <a:p>
            <a:pPr>
              <a:spcAft>
                <a:spcPts val="1000"/>
              </a:spcAft>
            </a:pPr>
            <a:r>
              <a:rPr sz="1500">
                <a:solidFill>
                  <a:srgbClr val="1C1C1C"/>
                </a:solidFill>
              </a:rPr>
              <a:t>*  Each v2 has a Source Grounding table at the bottom mapping content to its KB doc.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Material differences v1 missed</a:t>
            </a:r>
          </a:p>
        </p:txBody>
      </p:sp>
      <p:graphicFrame>
        <p:nvGraphicFramePr>
          <p:cNvPr id="4" name="Table 3"/>
          <p:cNvGraphicFramePr>
            <a:graphicFrameLocks noGrp="1"/>
          </p:cNvGraphicFramePr>
          <p:nvPr/>
        </p:nvGraphicFramePr>
        <p:xfrm>
          <a:off x="457200" y="1188720"/>
          <a:ext cx="11247120" cy="5029200"/>
        </p:xfrm>
        <a:graphic>
          <a:graphicData uri="http://schemas.openxmlformats.org/drawingml/2006/table">
            <a:tbl>
              <a:tblPr firstRow="1" bandRow="1">
                <a:tableStyleId>{5C22544A-7EE6-4342-B048-85BDC9FD1C3A}</a:tableStyleId>
              </a:tblPr>
              <a:tblGrid>
                <a:gridCol w="2926080"/>
                <a:gridCol w="8321040"/>
              </a:tblGrid>
              <a:tr h="718457">
                <a:tc>
                  <a:txBody>
                    <a:bodyPr/>
                    <a:lstStyle/>
                    <a:p>
                      <a:r>
                        <a:rPr sz="1100" b="1">
                          <a:solidFill>
                            <a:srgbClr val="FFFFFF"/>
                          </a:solidFill>
                        </a:rPr>
                        <a:t>Slug</a:t>
                      </a:r>
                    </a:p>
                  </a:txBody>
                  <a:tcPr>
                    <a:solidFill>
                      <a:srgbClr val="003366"/>
                    </a:solidFill>
                  </a:tcPr>
                </a:tc>
                <a:tc>
                  <a:txBody>
                    <a:bodyPr/>
                    <a:lstStyle/>
                    <a:p>
                      <a:r>
                        <a:rPr sz="1100" b="1">
                          <a:solidFill>
                            <a:srgbClr val="FFFFFF"/>
                          </a:solidFill>
                        </a:rPr>
                        <a:t>What v2 added</a:t>
                      </a:r>
                    </a:p>
                  </a:txBody>
                  <a:tcPr>
                    <a:solidFill>
                      <a:srgbClr val="003366"/>
                    </a:solidFill>
                  </a:tcPr>
                </a:tc>
              </a:tr>
              <a:tr h="718457">
                <a:tc>
                  <a:txBody>
                    <a:bodyPr/>
                    <a:lstStyle/>
                    <a:p>
                      <a:r>
                        <a:rPr sz="1000" b="1">
                          <a:solidFill>
                            <a:srgbClr val="003366"/>
                          </a:solidFill>
                        </a:rPr>
                        <a:t>cor_designation</a:t>
                      </a:r>
                    </a:p>
                  </a:txBody>
                  <a:tcPr/>
                </a:tc>
                <a:tc>
                  <a:txBody>
                    <a:bodyPr/>
                    <a:lstStyle/>
                    <a:p>
                      <a:r>
                        <a:rPr sz="1000">
                          <a:solidFill>
                            <a:srgbClr val="1C1C1C"/>
                          </a:solidFill>
                        </a:rPr>
                        <a:t>Six prescribed responsibility categories from NIH COR Handbook Appendix 8A; FAC-COR dollar tiers (I/II/III); separate signature page</a:t>
                      </a:r>
                    </a:p>
                  </a:txBody>
                  <a:tcPr/>
                </a:tc>
              </a:tr>
              <a:tr h="718457">
                <a:tc>
                  <a:txBody>
                    <a:bodyPr/>
                    <a:lstStyle/>
                    <a:p>
                      <a:r>
                        <a:rPr sz="1000" b="1">
                          <a:solidFill>
                            <a:srgbClr val="003366"/>
                          </a:solidFill>
                        </a:rPr>
                        <a:t>sb_review</a:t>
                      </a:r>
                    </a:p>
                  </a:txBody>
                  <a:tcPr>
                    <a:solidFill>
                      <a:srgbClr val="F6F8FB"/>
                    </a:solidFill>
                  </a:tcPr>
                </a:tc>
                <a:tc>
                  <a:txBody>
                    <a:bodyPr/>
                    <a:lstStyle/>
                    <a:p>
                      <a:r>
                        <a:rPr sz="1000">
                          <a:solidFill>
                            <a:srgbClr val="1C1C1C"/>
                          </a:solidFill>
                        </a:rPr>
                        <a:t>HHS AA 2023-02 Amendment 4 5-band threshold matrix; SBCX submission; 7-day SBS / 12-day PCR review windows</a:t>
                      </a:r>
                    </a:p>
                  </a:txBody>
                  <a:tcPr>
                    <a:solidFill>
                      <a:srgbClr val="F6F8FB"/>
                    </a:solidFill>
                  </a:tcPr>
                </a:tc>
              </a:tr>
              <a:tr h="718457">
                <a:tc>
                  <a:txBody>
                    <a:bodyPr/>
                    <a:lstStyle/>
                    <a:p>
                      <a:r>
                        <a:rPr sz="1000" b="1">
                          <a:solidFill>
                            <a:srgbClr val="003366"/>
                          </a:solidFill>
                        </a:rPr>
                        <a:t>section_508</a:t>
                      </a:r>
                    </a:p>
                  </a:txBody>
                  <a:tcPr/>
                </a:tc>
                <a:tc>
                  <a:txBody>
                    <a:bodyPr/>
                    <a:lstStyle/>
                    <a:p>
                      <a:r>
                        <a:rPr sz="1000">
                          <a:solidFill>
                            <a:srgbClr val="1C1C1C"/>
                          </a:solidFill>
                        </a:rPr>
                        <a:t>Replaced superseded HHSAR 352.239-73/74 with operative CD 2024-01 clauses; corrected WCAG baseline 2.0 -&gt; 2.1 AA per OAG FY25-02</a:t>
                      </a:r>
                    </a:p>
                  </a:txBody>
                  <a:tcPr/>
                </a:tc>
              </a:tr>
              <a:tr h="718457">
                <a:tc>
                  <a:txBody>
                    <a:bodyPr/>
                    <a:lstStyle/>
                    <a:p>
                      <a:r>
                        <a:rPr sz="1000" b="1">
                          <a:solidFill>
                            <a:srgbClr val="003366"/>
                          </a:solidFill>
                        </a:rPr>
                        <a:t>priority_sources_checklist</a:t>
                      </a:r>
                    </a:p>
                  </a:txBody>
                  <a:tcPr>
                    <a:solidFill>
                      <a:srgbClr val="F6F8FB"/>
                    </a:solidFill>
                  </a:tcPr>
                </a:tc>
                <a:tc>
                  <a:txBody>
                    <a:bodyPr/>
                    <a:lstStyle/>
                    <a:p>
                      <a:r>
                        <a:rPr sz="1000">
                          <a:solidFill>
                            <a:srgbClr val="1C1C1C"/>
                          </a:solidFill>
                        </a:rPr>
                        <a:t>HHSAM 308.104 three-tier framework (Required Use -&gt; Mandatory Use -&gt; Mandatory Consideration); HCA/SPE exception routing</a:t>
                      </a:r>
                    </a:p>
                  </a:txBody>
                  <a:tcPr>
                    <a:solidFill>
                      <a:srgbClr val="F6F8FB"/>
                    </a:solidFill>
                  </a:tcPr>
                </a:tc>
              </a:tr>
              <a:tr h="718457">
                <a:tc>
                  <a:txBody>
                    <a:bodyPr/>
                    <a:lstStyle/>
                    <a:p>
                      <a:r>
                        <a:rPr sz="1000" b="1">
                          <a:solidFill>
                            <a:srgbClr val="003366"/>
                          </a:solidFill>
                        </a:rPr>
                        <a:t>subk_review</a:t>
                      </a:r>
                    </a:p>
                  </a:txBody>
                  <a:tcPr/>
                </a:tc>
                <a:tc>
                  <a:txBody>
                    <a:bodyPr/>
                    <a:lstStyle/>
                    <a:p>
                      <a:r>
                        <a:rPr sz="1000">
                          <a:solidFill>
                            <a:srgbClr val="1C1C1C"/>
                          </a:solidFill>
                        </a:rPr>
                        <a:t>Threshold $750K -&gt; $900K; FAR 10-element checklist -&gt; HHS SOP 15-element; three-step CO -&gt; OSDBU -&gt; PCR signature flow</a:t>
                      </a:r>
                    </a:p>
                  </a:txBody>
                  <a:tcPr/>
                </a:tc>
              </a:tr>
              <a:tr h="718458">
                <a:tc>
                  <a:txBody>
                    <a:bodyPr/>
                    <a:lstStyle/>
                    <a:p>
                      <a:r>
                        <a:rPr sz="1000" b="1">
                          <a:solidFill>
                            <a:srgbClr val="003366"/>
                          </a:solidFill>
                        </a:rPr>
                        <a:t>source_selection_plan</a:t>
                      </a:r>
                    </a:p>
                  </a:txBody>
                  <a:tcPr>
                    <a:solidFill>
                      <a:srgbClr val="F6F8FB"/>
                    </a:solidFill>
                  </a:tcPr>
                </a:tc>
                <a:tc>
                  <a:txBody>
                    <a:bodyPr/>
                    <a:lstStyle/>
                    <a:p>
                      <a:r>
                        <a:rPr sz="1000">
                          <a:solidFill>
                            <a:srgbClr val="1C1C1C"/>
                          </a:solidFill>
                        </a:rPr>
                        <a:t>HHS Down Select confidence-based rating (High/Some/Low); HHS team roles; RemedyBiz/AT&amp;T case-law on SSDD documentation</a:t>
                      </a:r>
                    </a:p>
                  </a:txBody>
                  <a:tcPr>
                    <a:solidFill>
                      <a:srgbClr val="F6F8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0"/>
            <a:ext cx="10972800" cy="1828800"/>
          </a:xfrm>
          <a:prstGeom prst="rect">
            <a:avLst/>
          </a:prstGeom>
          <a:noFill/>
        </p:spPr>
        <p:txBody>
          <a:bodyPr wrap="none">
            <a:spAutoFit/>
          </a:bodyPr>
          <a:lstStyle/>
          <a:p>
            <a:r>
              <a:rPr sz="3600" b="1">
                <a:solidFill>
                  <a:srgbClr val="003366"/>
                </a:solidFill>
              </a:rPr>
              <a:t>Eight Templates</a:t>
            </a:r>
          </a:p>
          <a:p>
            <a:pPr>
              <a:spcBef>
                <a:spcPts val="1200"/>
              </a:spcBef>
            </a:pPr>
            <a:r>
              <a:rPr sz="1800">
                <a:solidFill>
                  <a:srgbClr val="555555"/>
                </a:solidFill>
              </a:rPr>
              <a:t>One slide per template - review structure, sections, example, and KB grounding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1 of 8 - COR Designation Letter</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cor_designation</a:t>
            </a:r>
          </a:p>
          <a:p>
            <a:pPr>
              <a:spcAft>
                <a:spcPts val="100"/>
              </a:spcAft>
            </a:pPr>
            <a:r>
              <a:rPr sz="1000" b="1">
                <a:solidFill>
                  <a:srgbClr val="003366"/>
                </a:solidFill>
              </a:rPr>
              <a:t>authority:  </a:t>
            </a:r>
            <a:r>
              <a:rPr sz="1000">
                <a:solidFill>
                  <a:srgbClr val="1C1C1C"/>
                </a:solidFill>
              </a:rPr>
              <a:t>— FAR 1.602-2(d); HHSAR 301.604; NIH COR Handbook Appendix 8A; OFPP Policy Letter 05-01 (FAC-COR Program).</a:t>
            </a:r>
          </a:p>
          <a:p>
            <a:pPr>
              <a:spcAft>
                <a:spcPts val="100"/>
              </a:spcAft>
            </a:pPr>
            <a:r>
              <a:rPr sz="1000" b="1">
                <a:solidFill>
                  <a:srgbClr val="003366"/>
                </a:solidFill>
              </a:rPr>
              <a:t>audience:  </a:t>
            </a:r>
            <a:r>
              <a:rPr sz="1000">
                <a:solidFill>
                  <a:srgbClr val="1C1C1C"/>
                </a:solidFill>
              </a:rPr>
              <a:t>— Contracting Officer (signs), COR nominee (acknowledges and signs at kick-off), COR supervisor (cc), official contract file (cc).</a:t>
            </a:r>
          </a:p>
          <a:p>
            <a:pPr>
              <a:spcAft>
                <a:spcPts val="100"/>
              </a:spcAft>
            </a:pPr>
            <a:r>
              <a:rPr sz="1000" b="1">
                <a:solidFill>
                  <a:srgbClr val="003366"/>
                </a:solidFill>
              </a:rPr>
              <a:t>KB source:  </a:t>
            </a:r>
            <a:r>
              <a:rPr sz="1000">
                <a:solidFill>
                  <a:srgbClr val="1C1C1C"/>
                </a:solidFill>
              </a:rPr>
              <a:t>NIH COR Handbook + FAQ</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LETTERHEAD AND ADDRESSEE - </a:t>
            </a:r>
            <a:r>
              <a:rPr sz="900">
                <a:solidFill>
                  <a:srgbClr val="555555"/>
                </a:solidFill>
              </a:rPr>
              <a:t>NCI/NIH letterhead, date, addressee block (COR full name, position title, IC/Office). Per Handbook Step 7, issued by the CO concurrent with notice of award.</a:t>
            </a:r>
          </a:p>
          <a:p>
            <a:pPr>
              <a:spcBef>
                <a:spcPts val="200"/>
              </a:spcBef>
            </a:pPr>
            <a:r>
              <a:rPr sz="900" b="1">
                <a:solidFill>
                  <a:srgbClr val="003366"/>
                </a:solidFill>
              </a:rPr>
              <a:t>2. </a:t>
            </a:r>
            <a:r>
              <a:rPr sz="900" b="1">
                <a:solidFill>
                  <a:srgbClr val="1C1C1C"/>
                </a:solidFill>
              </a:rPr>
              <a:t>SUBJECT LINE - </a:t>
            </a:r>
            <a:r>
              <a:rPr sz="900">
                <a:solidFill>
                  <a:srgbClr val="555555"/>
                </a:solidFill>
              </a:rPr>
              <a:t>*"Designation as Contracting Officer's Representative — Contract [Number]"*.</a:t>
            </a:r>
          </a:p>
          <a:p>
            <a:pPr>
              <a:spcBef>
                <a:spcPts val="200"/>
              </a:spcBef>
            </a:pPr>
            <a:r>
              <a:rPr sz="900" b="1">
                <a:solidFill>
                  <a:srgbClr val="003366"/>
                </a:solidFill>
              </a:rPr>
              <a:t>3. </a:t>
            </a:r>
            <a:r>
              <a:rPr sz="900" b="1">
                <a:solidFill>
                  <a:srgbClr val="1C1C1C"/>
                </a:solidFill>
              </a:rPr>
              <a:t>APPOINTMENT AUTHORITY - </a:t>
            </a:r>
            <a:r>
              <a:rPr sz="900">
                <a:solidFill>
                  <a:srgbClr val="555555"/>
                </a:solidFill>
              </a:rPr>
              <a:t>Single paragraph invoking FAR 1.602-2(d) and identifying effective date. The Handbook prescribes this as "COR appointment authority and limitations" — both must appear together, not in separate documents.</a:t>
            </a:r>
          </a:p>
          <a:p>
            <a:pPr>
              <a:spcBef>
                <a:spcPts val="200"/>
              </a:spcBef>
            </a:pPr>
            <a:r>
              <a:rPr sz="900" b="1">
                <a:solidFill>
                  <a:srgbClr val="003366"/>
                </a:solidFill>
              </a:rPr>
              <a:t>4. </a:t>
            </a:r>
            <a:r>
              <a:rPr sz="900" b="1">
                <a:solidFill>
                  <a:srgbClr val="1C1C1C"/>
                </a:solidFill>
              </a:rPr>
              <a:t>CONTRACT IDENTIFICATION - </a:t>
            </a:r>
            <a:r>
              <a:rPr sz="900">
                <a:solidFill>
                  <a:srgbClr val="555555"/>
                </a:solidFill>
              </a:rPr>
              <a:t>Contract number, contractor, period of performance, total estimated value, contract type, brief scope. Used to bound the technical-direction authority delegated below.</a:t>
            </a:r>
          </a:p>
          <a:p>
            <a:pPr>
              <a:spcBef>
                <a:spcPts val="200"/>
              </a:spcBef>
            </a:pPr>
            <a:r>
              <a:rPr sz="900" b="1">
                <a:solidFill>
                  <a:srgbClr val="003366"/>
                </a:solidFill>
              </a:rPr>
              <a:t>5. </a:t>
            </a:r>
            <a:r>
              <a:rPr sz="900" b="1">
                <a:solidFill>
                  <a:srgbClr val="1C1C1C"/>
                </a:solidFill>
              </a:rPr>
              <a:t>RESPONSIBILITIES - </a:t>
            </a:r>
            <a:r>
              <a:rPr sz="900">
                <a:solidFill>
                  <a:srgbClr val="555555"/>
                </a:solidFill>
              </a:rPr>
              <a:t>Enumerated per the six Handbook 8A categories: (a) general technical liaison, (b) contract familiarization, (c) changes/modifications coordination, (d) progress/inspection (monitoring performance and timely delivery of d</a:t>
            </a:r>
          </a:p>
          <a:p>
            <a:pPr>
              <a:spcBef>
                <a:spcPts val="200"/>
              </a:spcBef>
            </a:pPr>
            <a:r>
              <a:rPr sz="900" b="1">
                <a:solidFill>
                  <a:srgbClr val="003366"/>
                </a:solidFill>
              </a:rPr>
              <a:t>6. </a:t>
            </a:r>
            <a:r>
              <a:rPr sz="900" b="1">
                <a:solidFill>
                  <a:srgbClr val="1C1C1C"/>
                </a:solidFill>
              </a:rPr>
              <a:t>PROHIBITED ACTIONS - </a:t>
            </a:r>
            <a:r>
              <a:rPr sz="900">
                <a:solidFill>
                  <a:srgbClr val="555555"/>
                </a:solidFill>
              </a:rPr>
              <a:t>WARRANT-LEVEL AUTHORITY RESERVED FOR CO ONLY** — Per Handbook 8A, this is a separately titled and enumerated section, NOT a paragraph at the end of duties. Use a numbered table (see Worked Example below).</a:t>
            </a:r>
          </a:p>
          <a:p>
            <a:pPr>
              <a:spcBef>
                <a:spcPts val="200"/>
              </a:spcBef>
            </a:pPr>
            <a:r>
              <a:rPr sz="900" b="1">
                <a:solidFill>
                  <a:srgbClr val="003366"/>
                </a:solidFill>
              </a:rPr>
              <a:t>7. </a:t>
            </a:r>
            <a:r>
              <a:rPr sz="900" b="1">
                <a:solidFill>
                  <a:srgbClr val="1C1C1C"/>
                </a:solidFill>
              </a:rPr>
              <a:t>FAC-COR LEVEL CERTIFICATION - </a:t>
            </a:r>
            <a:r>
              <a:rPr sz="900">
                <a:solidFill>
                  <a:srgbClr val="555555"/>
                </a:solidFill>
              </a:rPr>
              <a:t>Confirm the COR holds the required FAC-COR level for this contract's total value, per the NIH FAQ on COR Certification: Level I (≤$250K, low complexity FFP), Level II ($250K–$25M, moderate-to-high complexity), Level III </a:t>
            </a:r>
          </a:p>
          <a:p>
            <a:pPr>
              <a:spcBef>
                <a:spcPts val="200"/>
              </a:spcBef>
            </a:pPr>
            <a:r>
              <a:rPr sz="900" b="1">
                <a:solidFill>
                  <a:srgbClr val="003366"/>
                </a:solidFill>
              </a:rPr>
              <a:t>8. </a:t>
            </a:r>
            <a:r>
              <a:rPr sz="900" b="1">
                <a:solidFill>
                  <a:srgbClr val="1C1C1C"/>
                </a:solidFill>
              </a:rPr>
              <a:t>REPORTING CADENCE - </a:t>
            </a:r>
            <a:r>
              <a:rPr sz="900">
                <a:solidFill>
                  <a:srgbClr val="555555"/>
                </a:solidFill>
              </a:rPr>
              <a:t>Routine status reports per the Handbook reporting templates (monthly / quarterly / semi-annual / annual / final per Appendix 3D). Immediate notification required for: cost growth, schedule slip, performance failure, frau</a:t>
            </a:r>
          </a:p>
          <a:p>
            <a:pPr>
              <a:spcBef>
                <a:spcPts val="200"/>
              </a:spcBef>
            </a:pPr>
            <a:r>
              <a:rPr sz="900" b="1">
                <a:solidFill>
                  <a:srgbClr val="003366"/>
                </a:solidFill>
              </a:rPr>
              <a:t>9. </a:t>
            </a:r>
            <a:r>
              <a:rPr sz="900" b="1">
                <a:solidFill>
                  <a:srgbClr val="1C1C1C"/>
                </a:solidFill>
              </a:rPr>
              <a:t>REVOCATION - </a:t>
            </a:r>
            <a:r>
              <a:rPr sz="900">
                <a:solidFill>
                  <a:srgbClr val="555555"/>
                </a:solidFill>
              </a:rPr>
              <a:t>Per Handbook 8A, designation is revocable in writing at any time by the CO; terminates automatically on contract closeout (Step 9), COR reassignment, lapse of FAC-COR certification, or written revocation.</a:t>
            </a:r>
          </a:p>
          <a:p>
            <a:pPr>
              <a:spcBef>
                <a:spcPts val="200"/>
              </a:spcBef>
            </a:pPr>
            <a:r>
              <a:rPr sz="900" b="1">
                <a:solidFill>
                  <a:srgbClr val="003366"/>
                </a:solidFill>
              </a:rPr>
              <a:t>10. </a:t>
            </a:r>
            <a:r>
              <a:rPr sz="900" b="1">
                <a:solidFill>
                  <a:srgbClr val="1C1C1C"/>
                </a:solidFill>
              </a:rPr>
              <a:t>ACKNOWLEDGEMENT SIGNATURE PAGE - </a:t>
            </a:r>
            <a:r>
              <a:rPr sz="900">
                <a:solidFill>
                  <a:srgbClr val="555555"/>
                </a:solidFill>
              </a:rPr>
              <a:t>Per Handbook 8A, a separately titled "Acknowledgment" signature page where the COR signs accepting duties AND limitations. Reviewed at the internal kick-off meeting per Appendix 8B.</a:t>
            </a:r>
          </a:p>
          <a:p>
            <a:pPr>
              <a:spcBef>
                <a:spcPts val="200"/>
              </a:spcBef>
            </a:pPr>
            <a:r>
              <a:rPr sz="900" b="1">
                <a:solidFill>
                  <a:srgbClr val="003366"/>
                </a:solidFill>
              </a:rPr>
              <a:t>11. </a:t>
            </a:r>
            <a:r>
              <a:rPr sz="900" b="1">
                <a:solidFill>
                  <a:srgbClr val="1C1C1C"/>
                </a:solidFill>
              </a:rPr>
              <a:t>CO SIGNATURE BLOCK - </a:t>
            </a:r>
            <a:r>
              <a:rPr sz="900">
                <a:solidFill>
                  <a:srgbClr val="555555"/>
                </a:solidFill>
              </a:rPr>
              <a:t>Contracting Officer signature, name, title, date; cc: COR supervisor, contract file, CS.</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(see template 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2 of 8 - HHS-653 Small Business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sb_review</a:t>
            </a:r>
          </a:p>
          <a:p>
            <a:pPr>
              <a:spcAft>
                <a:spcPts val="100"/>
              </a:spcAft>
            </a:pPr>
            <a:r>
              <a:rPr sz="1000" b="1">
                <a:solidFill>
                  <a:srgbClr val="003366"/>
                </a:solidFill>
              </a:rPr>
              <a:t>authority:  </a:t>
            </a:r>
            <a:r>
              <a:rPr sz="1000">
                <a:solidFill>
                  <a:srgbClr val="1C1C1C"/>
                </a:solidFill>
              </a:rPr>
              <a:t>HHS Acquisition Alert 2023-02 Amendment 4 (HHS 653 Form thresholds); FAR 19.501(c) (CO review of acquisitions for SB set-aside); FAR 19.502-2(a) (Rule of Two below SAT); 13 CFR 125.2(b)(1)(i)(A) (SBA </a:t>
            </a:r>
          </a:p>
          <a:p>
            <a:pPr>
              <a:spcAft>
                <a:spcPts val="100"/>
              </a:spcAft>
            </a:pPr>
            <a:r>
              <a:rPr sz="1000" b="1">
                <a:solidFill>
                  <a:srgbClr val="003366"/>
                </a:solidFill>
              </a:rPr>
              <a:t>audience:  </a:t>
            </a:r>
            <a:r>
              <a:rPr sz="1000">
                <a:solidFill>
                  <a:srgbClr val="1C1C1C"/>
                </a:solidFill>
              </a:rPr>
              <a:t>Small Business Specialist (SBS — concurrence), Contracting Officer (determination), HHS OSDBU and SBA PCR (when above-SAT and not set-aside).</a:t>
            </a:r>
          </a:p>
          <a:p>
            <a:pPr>
              <a:spcAft>
                <a:spcPts val="100"/>
              </a:spcAft>
            </a:pPr>
            <a:r>
              <a:rPr sz="1000" b="1">
                <a:solidFill>
                  <a:srgbClr val="003366"/>
                </a:solidFill>
              </a:rPr>
              <a:t>KB source:  </a:t>
            </a:r>
            <a:r>
              <a:rPr sz="1000">
                <a:solidFill>
                  <a:srgbClr val="1C1C1C"/>
                </a:solidFill>
              </a:rPr>
              <a:t>HHS AA 2023-02 Am. 4</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FORM HEADER - </a:t>
            </a:r>
            <a:r>
              <a:rPr sz="900">
                <a:solidFill>
                  <a:srgbClr val="555555"/>
                </a:solidFill>
              </a:rPr>
              <a:t>Requirement title, estimated value (incl. all options), NAICS code, 13 CFR 121.201 size standard, contracting activity, requesting office, SBCX submission date</a:t>
            </a:r>
          </a:p>
          <a:p>
            <a:pPr>
              <a:spcBef>
                <a:spcPts val="200"/>
              </a:spcBef>
            </a:pPr>
            <a:r>
              <a:rPr sz="900" b="1">
                <a:solidFill>
                  <a:srgbClr val="003366"/>
                </a:solidFill>
              </a:rPr>
              <a:t>2. </a:t>
            </a:r>
            <a:r>
              <a:rPr sz="900" b="1">
                <a:solidFill>
                  <a:srgbClr val="1C1C1C"/>
                </a:solidFill>
              </a:rPr>
              <a:t>THRESHOLD DETERMINATION - </a:t>
            </a:r>
            <a:r>
              <a:rPr sz="900">
                <a:solidFill>
                  <a:srgbClr val="555555"/>
                </a:solidFill>
              </a:rPr>
              <a:t>Per AA 2023-02 Amendment 4, classify the action into one of: (a) ≤ MPT $15K — no HHS 653 required; (b) MPT–SAT $15K–$350K — CO approval; (c) &gt; SAT set-aside for SB — CO approval; (d) &gt; SAT NOT set-aside — CO + OSDBU/SBA </a:t>
            </a:r>
          </a:p>
          <a:p>
            <a:pPr>
              <a:spcBef>
                <a:spcPts val="200"/>
              </a:spcBef>
            </a:pPr>
            <a:r>
              <a:rPr sz="900" b="1">
                <a:solidFill>
                  <a:srgbClr val="003366"/>
                </a:solidFill>
              </a:rPr>
              <a:t>3. </a:t>
            </a:r>
            <a:r>
              <a:rPr sz="900" b="1">
                <a:solidFill>
                  <a:srgbClr val="1C1C1C"/>
                </a:solidFill>
              </a:rPr>
              <a:t>REQUIREMENT SUMMARY - </a:t>
            </a:r>
            <a:r>
              <a:rPr sz="900">
                <a:solidFill>
                  <a:srgbClr val="555555"/>
                </a:solidFill>
              </a:rPr>
              <a:t>2-3 sentences describing what is being acquired and the period of performance</a:t>
            </a:r>
          </a:p>
          <a:p>
            <a:pPr>
              <a:spcBef>
                <a:spcPts val="200"/>
              </a:spcBef>
            </a:pPr>
            <a:r>
              <a:rPr sz="900" b="1">
                <a:solidFill>
                  <a:srgbClr val="003366"/>
                </a:solidFill>
              </a:rPr>
              <a:t>4. </a:t>
            </a:r>
            <a:r>
              <a:rPr sz="900" b="1">
                <a:solidFill>
                  <a:srgbClr val="1C1C1C"/>
                </a:solidFill>
              </a:rPr>
              <a:t>SMALL BUSINESS PROGRAM ASSESSMENT - </a:t>
            </a:r>
            <a:r>
              <a:rPr sz="900">
                <a:solidFill>
                  <a:srgbClr val="555555"/>
                </a:solidFill>
              </a:rPr>
              <a:t>Yes/No determination grid covering the 5 set-aside paths (8(a), HUBZone, SDVOSB, WOSB/EDWOSB, SB Set-Aside under FAR 19.502) with rationale and market-research citation per row</a:t>
            </a:r>
          </a:p>
          <a:p>
            <a:pPr>
              <a:spcBef>
                <a:spcPts val="200"/>
              </a:spcBef>
            </a:pPr>
            <a:r>
              <a:rPr sz="900" b="1">
                <a:solidFill>
                  <a:srgbClr val="003366"/>
                </a:solidFill>
              </a:rPr>
              <a:t>5. </a:t>
            </a:r>
            <a:r>
              <a:rPr sz="900" b="1">
                <a:solidFill>
                  <a:srgbClr val="1C1C1C"/>
                </a:solidFill>
              </a:rPr>
              <a:t>RULE OF TWO DETERMINATION - </a:t>
            </a:r>
            <a:r>
              <a:rPr sz="900">
                <a:solidFill>
                  <a:srgbClr val="555555"/>
                </a:solidFill>
              </a:rPr>
              <a:t>Per FAR 19.502-2(a), document whether there is a reasonable expectation of receiving offers from at least two responsible small businesses at fair market prices, quality, and delivery; if NO, attach the supporting market</a:t>
            </a:r>
          </a:p>
          <a:p>
            <a:pPr>
              <a:spcBef>
                <a:spcPts val="200"/>
              </a:spcBef>
            </a:pPr>
            <a:r>
              <a:rPr sz="900" b="1">
                <a:solidFill>
                  <a:srgbClr val="003366"/>
                </a:solidFill>
              </a:rPr>
              <a:t>6. </a:t>
            </a:r>
            <a:r>
              <a:rPr sz="900" b="1">
                <a:solidFill>
                  <a:srgbClr val="1C1C1C"/>
                </a:solidFill>
              </a:rPr>
              <a:t>NAICS / PSC SIZE STANDARD ANALYSIS - </a:t>
            </a:r>
            <a:r>
              <a:rPr sz="900">
                <a:solidFill>
                  <a:srgbClr val="555555"/>
                </a:solidFill>
              </a:rPr>
              <a:t>Confirm the selected NAICS and the corresponding 13 CFR 121.201 receipts or employee threshold</a:t>
            </a:r>
          </a:p>
          <a:p>
            <a:pPr>
              <a:spcBef>
                <a:spcPts val="200"/>
              </a:spcBef>
            </a:pPr>
            <a:r>
              <a:rPr sz="900" b="1">
                <a:solidFill>
                  <a:srgbClr val="003366"/>
                </a:solidFill>
              </a:rPr>
              <a:t>7. </a:t>
            </a:r>
            <a:r>
              <a:rPr sz="900" b="1">
                <a:solidFill>
                  <a:srgbClr val="1C1C1C"/>
                </a:solidFill>
              </a:rPr>
              <a:t>JUSTIFICATION FOR FULL AND OPEN (only if &gt; SAT and NOT set-a - </a:t>
            </a:r>
            <a:r>
              <a:rPr sz="900">
                <a:solidFill>
                  <a:srgbClr val="555555"/>
                </a:solidFill>
              </a:rPr>
              <a:t>Per Amendment 4, justify why an SB set-aside is not feasible (capability gaps, technical complexity, expected number of capable SBs)</a:t>
            </a:r>
          </a:p>
          <a:p>
            <a:pPr>
              <a:spcBef>
                <a:spcPts val="200"/>
              </a:spcBef>
            </a:pPr>
            <a:r>
              <a:rPr sz="900" b="1">
                <a:solidFill>
                  <a:srgbClr val="003366"/>
                </a:solidFill>
              </a:rPr>
              <a:t>8. </a:t>
            </a:r>
            <a:r>
              <a:rPr sz="900" b="1">
                <a:solidFill>
                  <a:srgbClr val="1C1C1C"/>
                </a:solidFill>
              </a:rPr>
              <a:t>REVIEW TIMELINE - </a:t>
            </a:r>
            <a:r>
              <a:rPr sz="900">
                <a:solidFill>
                  <a:srgbClr val="555555"/>
                </a:solidFill>
              </a:rPr>
              <a:t>Note the Amendment 4 maximum review windows: SBS up to 7 business days; SBA PCR up to 5 additional business days (total 12); default approval if no response received</a:t>
            </a:r>
          </a:p>
          <a:p>
            <a:pPr>
              <a:spcBef>
                <a:spcPts val="200"/>
              </a:spcBef>
            </a:pPr>
            <a:r>
              <a:rPr sz="900" b="1">
                <a:solidFill>
                  <a:srgbClr val="003366"/>
                </a:solidFill>
              </a:rPr>
              <a:t>9. </a:t>
            </a:r>
            <a:r>
              <a:rPr sz="900" b="1">
                <a:solidFill>
                  <a:srgbClr val="1C1C1C"/>
                </a:solidFill>
              </a:rPr>
              <a:t>SMALL BUSINESS SPECIALIST CONCURRENCE - </a:t>
            </a:r>
            <a:r>
              <a:rPr sz="900">
                <a:solidFill>
                  <a:srgbClr val="555555"/>
                </a:solidFill>
              </a:rPr>
              <a:t>Name, signature line, date, concurrence/non-concurrence note (required by Amendment 4 for SBCX submission)</a:t>
            </a:r>
          </a:p>
          <a:p>
            <a:pPr>
              <a:spcBef>
                <a:spcPts val="200"/>
              </a:spcBef>
            </a:pPr>
            <a:r>
              <a:rPr sz="900" b="1">
                <a:solidFill>
                  <a:srgbClr val="003366"/>
                </a:solidFill>
              </a:rPr>
              <a:t>10. </a:t>
            </a:r>
            <a:r>
              <a:rPr sz="900" b="1">
                <a:solidFill>
                  <a:srgbClr val="1C1C1C"/>
                </a:solidFill>
              </a:rPr>
              <a:t>CONTRACTING OFFICER DETERMINATION - </a:t>
            </a:r>
            <a:r>
              <a:rPr sz="900">
                <a:solidFill>
                  <a:srgbClr val="555555"/>
                </a:solidFill>
              </a:rPr>
              <a:t>Name, signature line, date, final determination statement</a:t>
            </a:r>
          </a:p>
          <a:p>
            <a:pPr>
              <a:spcBef>
                <a:spcPts val="200"/>
              </a:spcBef>
            </a:pPr>
            <a:r>
              <a:rPr sz="900" b="1">
                <a:solidFill>
                  <a:srgbClr val="003366"/>
                </a:solidFill>
              </a:rPr>
              <a:t>11. </a:t>
            </a:r>
            <a:r>
              <a:rPr sz="900" b="1">
                <a:solidFill>
                  <a:srgbClr val="1C1C1C"/>
                </a:solidFill>
              </a:rPr>
              <a:t>OSDBU / SBA PCR REVIEW BLOCK - </a:t>
            </a:r>
            <a:r>
              <a:rPr sz="900">
                <a:solidFill>
                  <a:srgbClr val="555555"/>
                </a:solidFill>
              </a:rPr>
              <a:t>Populated only for above-SAT non-set-aside actions; otherwise mark "Not required per AA 2023-02 Am. 4"</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Genomic sequencing software maintenance, NAICS 541512 (size standard $34M receipts), $280K annual sole-source.
Threshold classification: Section 2 → category (b) MPT–SAT ($15K–$350K). Per AA 2023-02 Am. 4: CO approval of HHS 653; submit via SBCX; no OSDBU/PCR review required. Per FAR 19.502-2(a): MUST be set-aside for small business UNLESS Rule of Two cannot be met.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3 of 8 - Section 889 Compliance</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section_889</a:t>
            </a:r>
          </a:p>
          <a:p>
            <a:pPr>
              <a:spcAft>
                <a:spcPts val="100"/>
              </a:spcAft>
            </a:pPr>
            <a:r>
              <a:rPr sz="1000" b="1">
                <a:solidFill>
                  <a:srgbClr val="003366"/>
                </a:solidFill>
              </a:rPr>
              <a:t>authority:  </a:t>
            </a:r>
            <a:r>
              <a:rPr sz="1000">
                <a:solidFill>
                  <a:srgbClr val="1C1C1C"/>
                </a:solidFill>
              </a:rPr>
              <a:t>FAR Subpart 4.21; NDAA FY2019 § 889 Parts A and B (Pub. L. 115-232); FAR 52.204-24, 52.204-25, 52.204-26.</a:t>
            </a:r>
          </a:p>
          <a:p>
            <a:pPr>
              <a:spcAft>
                <a:spcPts val="100"/>
              </a:spcAft>
            </a:pPr>
            <a:r>
              <a:rPr sz="1000" b="1">
                <a:solidFill>
                  <a:srgbClr val="003366"/>
                </a:solidFill>
              </a:rPr>
              <a:t>audience:  </a:t>
            </a:r>
            <a:r>
              <a:rPr sz="1000">
                <a:solidFill>
                  <a:srgbClr val="1C1C1C"/>
                </a:solidFill>
              </a:rPr>
              <a:t>Contracting Officer (primary author and signer); offeror / prospective contractor (subject of the representation review); agency leadership and OGC (escalation path for any "Yes" representation or wai</a:t>
            </a:r>
          </a:p>
          <a:p>
            <a:pPr>
              <a:spcAft>
                <a:spcPts val="100"/>
              </a:spcAft>
            </a:pPr>
            <a:r>
              <a:rPr sz="1000" b="1">
                <a:solidFill>
                  <a:srgbClr val="003366"/>
                </a:solidFill>
              </a:rPr>
              <a:t>KB source:  </a:t>
            </a:r>
            <a:r>
              <a:rPr sz="1000">
                <a:solidFill>
                  <a:srgbClr val="1C1C1C"/>
                </a:solidFill>
              </a:rPr>
              <a:t>(no KB source - FAR 4.21 only)</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MEMO HEADER - </a:t>
            </a:r>
            <a:r>
              <a:rPr sz="900">
                <a:solidFill>
                  <a:srgbClr val="555555"/>
                </a:solidFill>
              </a:rPr>
              <a:t>Requirement title, contract/solicitation number, estimated value, contracting officer, date</a:t>
            </a:r>
          </a:p>
          <a:p>
            <a:pPr>
              <a:spcBef>
                <a:spcPts val="200"/>
              </a:spcBef>
            </a:pPr>
            <a:r>
              <a:rPr sz="900" b="1">
                <a:solidFill>
                  <a:srgbClr val="003366"/>
                </a:solidFill>
              </a:rPr>
              <a:t>2. </a:t>
            </a:r>
            <a:r>
              <a:rPr sz="900" b="1">
                <a:solidFill>
                  <a:srgbClr val="1C1C1C"/>
                </a:solidFill>
              </a:rPr>
              <a:t>APPLICABILITY - </a:t>
            </a:r>
            <a:r>
              <a:rPr sz="900">
                <a:solidFill>
                  <a:srgbClr val="555555"/>
                </a:solidFill>
              </a:rPr>
              <a:t>Confirm Part A (Government use of covered equipment) and Part B (contracting with entities that USE covered equipment as a substantial / essential component) coverage; do NOT presume non-applicability</a:t>
            </a:r>
          </a:p>
          <a:p>
            <a:pPr>
              <a:spcBef>
                <a:spcPts val="200"/>
              </a:spcBef>
            </a:pPr>
            <a:r>
              <a:rPr sz="900" b="1">
                <a:solidFill>
                  <a:srgbClr val="003366"/>
                </a:solidFill>
              </a:rPr>
              <a:t>3. </a:t>
            </a:r>
            <a:r>
              <a:rPr sz="900" b="1">
                <a:solidFill>
                  <a:srgbClr val="1C1C1C"/>
                </a:solidFill>
              </a:rPr>
              <a:t>COVERED ENTITIES - </a:t>
            </a:r>
            <a:r>
              <a:rPr sz="900">
                <a:solidFill>
                  <a:srgbClr val="555555"/>
                </a:solidFill>
              </a:rPr>
              <a:t>List the named producers (Huawei, ZTE, Hytera, Hikvision, Dahua) and any subsidiaries / affiliates per FAR 4.2101</a:t>
            </a:r>
          </a:p>
          <a:p>
            <a:pPr>
              <a:spcBef>
                <a:spcPts val="200"/>
              </a:spcBef>
            </a:pPr>
            <a:r>
              <a:rPr sz="900" b="1">
                <a:solidFill>
                  <a:srgbClr val="003366"/>
                </a:solidFill>
              </a:rPr>
              <a:t>4. </a:t>
            </a:r>
            <a:r>
              <a:rPr sz="900" b="1">
                <a:solidFill>
                  <a:srgbClr val="1C1C1C"/>
                </a:solidFill>
              </a:rPr>
              <a:t>REPRESENTATION REVIEW - </a:t>
            </a:r>
            <a:r>
              <a:rPr sz="900">
                <a:solidFill>
                  <a:srgbClr val="555555"/>
                </a:solidFill>
              </a:rPr>
              <a:t>Document the offeror representations under FAR 52.204-24 (offer-level) and 52.204-26 (annual SAM representation) with date checked and reviewer</a:t>
            </a:r>
          </a:p>
          <a:p>
            <a:pPr>
              <a:spcBef>
                <a:spcPts val="200"/>
              </a:spcBef>
            </a:pPr>
            <a:r>
              <a:rPr sz="900" b="1">
                <a:solidFill>
                  <a:srgbClr val="003366"/>
                </a:solidFill>
              </a:rPr>
              <a:t>5. </a:t>
            </a:r>
            <a:r>
              <a:rPr sz="900" b="1">
                <a:solidFill>
                  <a:srgbClr val="1C1C1C"/>
                </a:solidFill>
              </a:rPr>
              <a:t>SAM.gov VERIFICATION - </a:t>
            </a:r>
            <a:r>
              <a:rPr sz="900">
                <a:solidFill>
                  <a:srgbClr val="555555"/>
                </a:solidFill>
              </a:rPr>
              <a:t>Date and result of the SAM.gov representation lookup; attach screenshot or excerpt to the contract file</a:t>
            </a:r>
          </a:p>
          <a:p>
            <a:pPr>
              <a:spcBef>
                <a:spcPts val="200"/>
              </a:spcBef>
            </a:pPr>
            <a:r>
              <a:rPr sz="900" b="1">
                <a:solidFill>
                  <a:srgbClr val="003366"/>
                </a:solidFill>
              </a:rPr>
              <a:t>6. </a:t>
            </a:r>
            <a:r>
              <a:rPr sz="900" b="1">
                <a:solidFill>
                  <a:srgbClr val="1C1C1C"/>
                </a:solidFill>
              </a:rPr>
              <a:t>WAIVER STATUS - </a:t>
            </a:r>
            <a:r>
              <a:rPr sz="900">
                <a:solidFill>
                  <a:srgbClr val="555555"/>
                </a:solidFill>
              </a:rPr>
              <a:t>If a waiver under FAR 4.2104 has been granted, cite waiver authority, expiration, and scope; otherwise state "No waiver applicable"</a:t>
            </a:r>
          </a:p>
          <a:p>
            <a:pPr>
              <a:spcBef>
                <a:spcPts val="200"/>
              </a:spcBef>
            </a:pPr>
            <a:r>
              <a:rPr sz="900" b="1">
                <a:solidFill>
                  <a:srgbClr val="003366"/>
                </a:solidFill>
              </a:rPr>
              <a:t>7. </a:t>
            </a:r>
            <a:r>
              <a:rPr sz="900" b="1">
                <a:solidFill>
                  <a:srgbClr val="1C1C1C"/>
                </a:solidFill>
              </a:rPr>
              <a:t>REPORTING OBLIGATIONS - </a:t>
            </a:r>
            <a:r>
              <a:rPr sz="900">
                <a:solidFill>
                  <a:srgbClr val="555555"/>
                </a:solidFill>
              </a:rPr>
              <a:t>Confirm 52.204-25(d) reporting requirements communicated to the contractor (1-day initial notification / 10-day full report on identification of covered equipment)</a:t>
            </a:r>
          </a:p>
          <a:p>
            <a:pPr>
              <a:spcBef>
                <a:spcPts val="200"/>
              </a:spcBef>
            </a:pPr>
            <a:r>
              <a:rPr sz="900" b="1">
                <a:solidFill>
                  <a:srgbClr val="003366"/>
                </a:solidFill>
              </a:rPr>
              <a:t>8. </a:t>
            </a:r>
            <a:r>
              <a:rPr sz="900" b="1">
                <a:solidFill>
                  <a:srgbClr val="1C1C1C"/>
                </a:solidFill>
              </a:rPr>
              <a:t>FINDING - </a:t>
            </a:r>
            <a:r>
              <a:rPr sz="900">
                <a:solidFill>
                  <a:srgbClr val="555555"/>
                </a:solidFill>
              </a:rPr>
              <a:t>Explicit determination: *"The proposed contractor [does / does not] use or provide covered telecommunications equipment or services. Award [is / is not] permitted under FAR 4.21."*</a:t>
            </a:r>
          </a:p>
          <a:p>
            <a:pPr>
              <a:spcBef>
                <a:spcPts val="200"/>
              </a:spcBef>
            </a:pPr>
            <a:r>
              <a:rPr sz="900" b="1">
                <a:solidFill>
                  <a:srgbClr val="003366"/>
                </a:solidFill>
              </a:rPr>
              <a:t>9. </a:t>
            </a:r>
            <a:r>
              <a:rPr sz="900" b="1">
                <a:solidFill>
                  <a:srgbClr val="1C1C1C"/>
                </a:solidFill>
              </a:rPr>
              <a:t>SIGNATURE - </a:t>
            </a:r>
            <a:r>
              <a:rPr sz="900">
                <a:solidFill>
                  <a:srgbClr val="555555"/>
                </a:solidFill>
              </a:rPr>
              <a:t>Contracting officer name, title, date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&gt; Offeror: Illumina Inc., UEI ABC123DEF456, Cage Code 1A2B3
&gt; 52.204-24 Representation (offer-level): Offeror checked "Does not" provide covered telecommunications equipment or services as a part of its offered products or services to the Government (Para (d)(1)). Offeror checked "Does not" use covered telecommunications equipment or services, or any equipment, system, or service that uses covered telecommunications equipment or services (Para (d)(2)).
&gt; 52.204-26 Annual Representation (SAM.gov): Offeror's SAM.gov record reviewed 2026-05-05 by [Contracting Officer to complete: &lt;reviewer name&gt;]. Both Para (c)(1) and (c)(2) representations are marked "Does not."
&gt; Reconciliation: Offer-level (52.204-24) and annual (52.204-26) representations are consistent.
&gt; Action: No "Yes" representation triggered; no escalation required. Screenshot of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4 of 8 - Section 508 Compliance</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section_508</a:t>
            </a:r>
          </a:p>
          <a:p>
            <a:pPr>
              <a:spcAft>
                <a:spcPts val="100"/>
              </a:spcAft>
            </a:pPr>
            <a:r>
              <a:rPr sz="1000" b="1">
                <a:solidFill>
                  <a:srgbClr val="003366"/>
                </a:solidFill>
              </a:rPr>
              <a:t>authority:  </a:t>
            </a:r>
            <a:r>
              <a:rPr sz="1000">
                <a:solidFill>
                  <a:srgbClr val="1C1C1C"/>
                </a:solidFill>
              </a:rPr>
              <a:t>29 USC 794d (Section 508 of the Rehabilitation Act); 36 CFR Part 1194 (Revised 508 Standards, WCAG 2.1 Level AA minimum per HHS practice); FAR Subpart 39.2 (FAR 39.203 applicability, FAR 39.204 except</a:t>
            </a:r>
          </a:p>
          <a:p>
            <a:pPr>
              <a:spcAft>
                <a:spcPts val="100"/>
              </a:spcAft>
            </a:pPr>
            <a:r>
              <a:rPr sz="1000" b="1">
                <a:solidFill>
                  <a:srgbClr val="003366"/>
                </a:solidFill>
              </a:rPr>
              <a:t>audience:  </a:t>
            </a:r>
            <a:r>
              <a:rPr sz="1000">
                <a:solidFill>
                  <a:srgbClr val="1C1C1C"/>
                </a:solidFill>
              </a:rPr>
              <a:t>Contracting Officer (determination), NCI Section 508 representative (concurrence), OPDIV Section 508 Official (exception/exemption approval per FAR 39.204/39.205 and HHSAR 339.204-1), Offeror (VPAT 2.</a:t>
            </a:r>
          </a:p>
          <a:p>
            <a:pPr>
              <a:spcAft>
                <a:spcPts val="100"/>
              </a:spcAft>
            </a:pPr>
            <a:r>
              <a:rPr sz="1000" b="1">
                <a:solidFill>
                  <a:srgbClr val="003366"/>
                </a:solidFill>
              </a:rPr>
              <a:t>KB source:  </a:t>
            </a:r>
            <a:r>
              <a:rPr sz="1000">
                <a:solidFill>
                  <a:srgbClr val="1C1C1C"/>
                </a:solidFill>
              </a:rPr>
              <a:t>OAG FY25-02 + CD 2024-01</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STATEMENT HEADER - </a:t>
            </a:r>
            <a:r>
              <a:rPr sz="900">
                <a:solidFill>
                  <a:srgbClr val="555555"/>
                </a:solidFill>
              </a:rPr>
              <a:t>Requirement title, estimated value, contract/solicitation number, contracting officer, NCI 508 representative, date; flag whether acquisition is GPC/micro-purchase, IT, or non-IT-with-ICT-deliverables (OAG-FY25-02 applie</a:t>
            </a:r>
          </a:p>
          <a:p>
            <a:pPr>
              <a:spcBef>
                <a:spcPts val="200"/>
              </a:spcBef>
            </a:pPr>
            <a:r>
              <a:rPr sz="900" b="1">
                <a:solidFill>
                  <a:srgbClr val="003366"/>
                </a:solidFill>
              </a:rPr>
              <a:t>2. </a:t>
            </a:r>
            <a:r>
              <a:rPr sz="900" b="1">
                <a:solidFill>
                  <a:srgbClr val="1C1C1C"/>
                </a:solidFill>
              </a:rPr>
              <a:t>APPLICABILITY DETERMINATION - </a:t>
            </a:r>
            <a:r>
              <a:rPr sz="900">
                <a:solidFill>
                  <a:srgbClr val="555555"/>
                </a:solidFill>
              </a:rPr>
              <a:t>Per OAG-FY25-02 *Applicability*, confirm whether ANY ICT deliverable is expected (electronic documents, presentations, web content, multimedia, official agency communications, OR software bundled with non-ICT equipment).</a:t>
            </a:r>
          </a:p>
          <a:p>
            <a:pPr>
              <a:spcBef>
                <a:spcPts val="200"/>
              </a:spcBef>
            </a:pPr>
            <a:r>
              <a:rPr sz="900" b="1">
                <a:solidFill>
                  <a:srgbClr val="003366"/>
                </a:solidFill>
              </a:rPr>
              <a:t>3. </a:t>
            </a:r>
            <a:r>
              <a:rPr sz="900" b="1">
                <a:solidFill>
                  <a:srgbClr val="1C1C1C"/>
                </a:solidFill>
              </a:rPr>
              <a:t>PRODUCT TYPE CHECKLIST - </a:t>
            </a:r>
            <a:r>
              <a:rPr sz="900">
                <a:solidFill>
                  <a:srgbClr val="555555"/>
                </a:solidFill>
              </a:rPr>
              <a:t>Pre-checked classification of the ICT against the seven 36 CFR Part 1194 categories (Software, Web, Telecom, Video/Multimedia, Self-Contained/Closed Products, Desktop/Portable Computers, Electronic Documents). Note: OAG-</a:t>
            </a:r>
          </a:p>
          <a:p>
            <a:pPr>
              <a:spcBef>
                <a:spcPts val="200"/>
              </a:spcBef>
            </a:pPr>
            <a:r>
              <a:rPr sz="900" b="1">
                <a:solidFill>
                  <a:srgbClr val="003366"/>
                </a:solidFill>
              </a:rPr>
              <a:t>4. </a:t>
            </a:r>
            <a:r>
              <a:rPr sz="900" b="1">
                <a:solidFill>
                  <a:srgbClr val="1C1C1C"/>
                </a:solidFill>
              </a:rPr>
              <a:t>WCAG / STANDARDS BASELINE - </a:t>
            </a:r>
            <a:r>
              <a:rPr sz="900">
                <a:solidFill>
                  <a:srgbClr val="555555"/>
                </a:solidFill>
              </a:rPr>
              <a:t>Confirm conformance target: Revised 508 Standards (36 CFR Part 1194) and **WCAG 2.1 Level AA minimum** per OAG-FY25-02 §3; design to WCAG 2.2 where practicable</a:t>
            </a:r>
          </a:p>
          <a:p>
            <a:pPr>
              <a:spcBef>
                <a:spcPts val="200"/>
              </a:spcBef>
            </a:pPr>
            <a:r>
              <a:rPr sz="900" b="1">
                <a:solidFill>
                  <a:srgbClr val="003366"/>
                </a:solidFill>
              </a:rPr>
              <a:t>5. </a:t>
            </a:r>
            <a:r>
              <a:rPr sz="900" b="1">
                <a:solidFill>
                  <a:srgbClr val="1C1C1C"/>
                </a:solidFill>
              </a:rPr>
              <a:t>HHSAR CLAUSE INSERTION (CD 2024-01) - </a:t>
            </a:r>
            <a:r>
              <a:rPr sz="900">
                <a:solidFill>
                  <a:srgbClr val="555555"/>
                </a:solidFill>
              </a:rPr>
              <a:t>Confirm solicitation contains **HHSAR 352.239-78 (provision)** and contract/order will contain **HHSAR 352.239-79 (clause)**. Do NOT cite the superseded codified numbers 352.239-73 / 352.239-74. If using PRISM, verify Do</a:t>
            </a:r>
          </a:p>
          <a:p>
            <a:pPr>
              <a:spcBef>
                <a:spcPts val="200"/>
              </a:spcBef>
            </a:pPr>
            <a:r>
              <a:rPr sz="900" b="1">
                <a:solidFill>
                  <a:srgbClr val="003366"/>
                </a:solidFill>
              </a:rPr>
              <a:t>6. </a:t>
            </a:r>
            <a:r>
              <a:rPr sz="900" b="1">
                <a:solidFill>
                  <a:srgbClr val="1C1C1C"/>
                </a:solidFill>
              </a:rPr>
              <a:t>OFFEROR ACCESSIBILITY DOCUMENTATION - </a:t>
            </a:r>
            <a:r>
              <a:rPr sz="900">
                <a:solidFill>
                  <a:srgbClr val="555555"/>
                </a:solidFill>
              </a:rPr>
              <a:t>Identify the required instrument for this acquisition:</a:t>
            </a:r>
          </a:p>
          <a:p>
            <a:pPr>
              <a:spcBef>
                <a:spcPts val="200"/>
              </a:spcBef>
            </a:pPr>
            <a:r>
              <a:rPr sz="900" b="1">
                <a:solidFill>
                  <a:srgbClr val="003366"/>
                </a:solidFill>
              </a:rPr>
              <a:t>7. </a:t>
            </a:r>
            <a:r>
              <a:rPr sz="900" b="1">
                <a:solidFill>
                  <a:srgbClr val="1C1C1C"/>
                </a:solidFill>
              </a:rPr>
              <a:t>EXCEPTION / EXEMPTION DETERMINATION - </a:t>
            </a:r>
            <a:r>
              <a:rPr sz="900">
                <a:solidFill>
                  <a:srgbClr val="555555"/>
                </a:solidFill>
              </a:rPr>
              <a:t>If claimed under FAR 39.204 (national security / fundamental alteration / undue burden) or FAR 39.205 (exempt supplies/services), **the determination must be documented in the acquisition plan or contract file, reviewed </a:t>
            </a:r>
          </a:p>
          <a:p>
            <a:pPr>
              <a:spcBef>
                <a:spcPts val="200"/>
              </a:spcBef>
            </a:pPr>
            <a:r>
              <a:rPr sz="900" b="1">
                <a:solidFill>
                  <a:srgbClr val="003366"/>
                </a:solidFill>
              </a:rPr>
              <a:t>8. </a:t>
            </a:r>
            <a:r>
              <a:rPr sz="900" b="1">
                <a:solidFill>
                  <a:srgbClr val="1C1C1C"/>
                </a:solidFill>
              </a:rPr>
              <a:t>NON-COMPLIANCE / REMEDIAL ACTION - </a:t>
            </a:r>
            <a:r>
              <a:rPr sz="900">
                <a:solidFill>
                  <a:srgbClr val="555555"/>
                </a:solidFill>
              </a:rPr>
              <a:t>Confirm contract specifies that non-conforming ICT deliverables will be rectified or replaced at no additional cost within a stated time period (OAG-FY25-02 §4)</a:t>
            </a:r>
          </a:p>
          <a:p>
            <a:pPr>
              <a:spcBef>
                <a:spcPts val="200"/>
              </a:spcBef>
            </a:pPr>
            <a:r>
              <a:rPr sz="900" b="1">
                <a:solidFill>
                  <a:srgbClr val="003366"/>
                </a:solidFill>
              </a:rPr>
              <a:t>9. </a:t>
            </a:r>
            <a:r>
              <a:rPr sz="900" b="1">
                <a:solidFill>
                  <a:srgbClr val="1C1C1C"/>
                </a:solidFill>
              </a:rPr>
              <a:t>NCI 508 REPRESENTATIVE COORDINATION - </a:t>
            </a:r>
            <a:r>
              <a:rPr sz="900">
                <a:solidFill>
                  <a:srgbClr val="555555"/>
                </a:solidFill>
              </a:rPr>
              <a:t>Concurrence or non-concurrence with rationale; ACR / Product Assessment Template gaps requiring vendor remediation noted</a:t>
            </a:r>
          </a:p>
          <a:p>
            <a:pPr>
              <a:spcBef>
                <a:spcPts val="200"/>
              </a:spcBef>
            </a:pPr>
            <a:r>
              <a:rPr sz="900" b="1">
                <a:solidFill>
                  <a:srgbClr val="003366"/>
                </a:solidFill>
              </a:rPr>
              <a:t>10. </a:t>
            </a:r>
            <a:r>
              <a:rPr sz="900" b="1">
                <a:solidFill>
                  <a:srgbClr val="1C1C1C"/>
                </a:solidFill>
              </a:rPr>
              <a:t>SIGNATURE - </a:t>
            </a:r>
            <a:r>
              <a:rPr sz="900">
                <a:solidFill>
                  <a:srgbClr val="555555"/>
                </a:solidFill>
              </a:rPr>
              <a:t>Contracting Officer determination; NCI Section 508 representative concurrence; Section 508 Official approval line if exception/exemption claimed; date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Cloud-based genomics analysis platform — Software + Web + Electronic Documents — NAICS 541512, $1.2M base + 4 options.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5 of 8 - Required &amp; Priority Sources Checklist</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priority_sources_checklist</a:t>
            </a:r>
          </a:p>
          <a:p>
            <a:pPr>
              <a:spcAft>
                <a:spcPts val="100"/>
              </a:spcAft>
            </a:pPr>
            <a:r>
              <a:rPr sz="1000" b="1">
                <a:solidFill>
                  <a:srgbClr val="003366"/>
                </a:solidFill>
              </a:rPr>
              <a:t>authority:  </a:t>
            </a:r>
            <a:r>
              <a:rPr sz="1000">
                <a:solidFill>
                  <a:srgbClr val="1C1C1C"/>
                </a:solidFill>
              </a:rPr>
              <a:t>FAR 7.102 (acquisition planning), FAR 8.002 (mandatory source priority), FAR 8.004 (other sources), FAR 8.6 (UNICOR), FAR 8.7 (AbilityOne); HHSAM 308.104 (effective April 10, 2026 — supersedes HHSAR 3</a:t>
            </a:r>
          </a:p>
          <a:p>
            <a:pPr>
              <a:spcAft>
                <a:spcPts val="100"/>
              </a:spcAft>
            </a:pPr>
            <a:r>
              <a:rPr sz="1000" b="1">
                <a:solidFill>
                  <a:srgbClr val="003366"/>
                </a:solidFill>
              </a:rPr>
              <a:t>audience:  </a:t>
            </a:r>
            <a:r>
              <a:rPr sz="1000">
                <a:solidFill>
                  <a:srgbClr val="1C1C1C"/>
                </a:solidFill>
              </a:rPr>
              <a:t>Card Holder / Contracting Officer (signs determination); HCA (Tier 1 OFPP exception approver); SPE (Tier 2 HHS Mandatory Use exception approver via Document Routing Tool); AbilityOne / UNICOR (mandato</a:t>
            </a:r>
          </a:p>
          <a:p>
            <a:pPr>
              <a:spcAft>
                <a:spcPts val="100"/>
              </a:spcAft>
            </a:pPr>
            <a:r>
              <a:rPr sz="1000" b="1">
                <a:solidFill>
                  <a:srgbClr val="003366"/>
                </a:solidFill>
              </a:rPr>
              <a:t>KB source:  </a:t>
            </a:r>
            <a:r>
              <a:rPr sz="1000">
                <a:solidFill>
                  <a:srgbClr val="1C1C1C"/>
                </a:solidFill>
              </a:rPr>
              <a:t>NIH Reference + HHSAM 308</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CHECKLIST HEADER - </a:t>
            </a:r>
            <a:r>
              <a:rPr sz="900">
                <a:solidFill>
                  <a:srgbClr val="555555"/>
                </a:solidFill>
              </a:rPr>
              <a:t>Requirement title, supply-vs-services classification, estimated value, threshold band (MPT / SAT / above SAT), requestor, contracting officer / card holder, date</a:t>
            </a:r>
          </a:p>
          <a:p>
            <a:pPr>
              <a:spcBef>
                <a:spcPts val="200"/>
              </a:spcBef>
            </a:pPr>
            <a:r>
              <a:rPr sz="900" b="1">
                <a:solidFill>
                  <a:srgbClr val="003366"/>
                </a:solidFill>
              </a:rPr>
              <a:t>2. </a:t>
            </a:r>
            <a:r>
              <a:rPr sz="900" b="1">
                <a:solidFill>
                  <a:srgbClr val="1C1C1C"/>
                </a:solidFill>
              </a:rPr>
              <a:t>REQUIREMENT SUMMARY - </a:t>
            </a:r>
            <a:r>
              <a:rPr sz="900">
                <a:solidFill>
                  <a:srgbClr val="555555"/>
                </a:solidFill>
              </a:rPr>
              <a:t>2-3 sentence description; note whether NIH Manual Chapter 6307-3 clearance applies and whether NIH Self-Service Stores (Bldgs 10 &amp; 31) or NIH Supply Center were shopped first per NIH Reference general guidance</a:t>
            </a:r>
          </a:p>
          <a:p>
            <a:pPr>
              <a:spcBef>
                <a:spcPts val="200"/>
              </a:spcBef>
            </a:pPr>
            <a:r>
              <a:rPr sz="900" b="1">
                <a:solidFill>
                  <a:srgbClr val="003366"/>
                </a:solidFill>
              </a:rPr>
              <a:t>3. </a:t>
            </a:r>
            <a:r>
              <a:rPr sz="900" b="1">
                <a:solidFill>
                  <a:srgbClr val="1C1C1C"/>
                </a:solidFill>
              </a:rPr>
              <a:t>FAR 8.002 MANDATORY SOURCES CHECKLIST - </a:t>
            </a:r>
            <a:r>
              <a:rPr sz="900">
                <a:solidFill>
                  <a:srgbClr val="555555"/>
                </a:solidFill>
              </a:rPr>
              <a:t>Table covering each FAR 8.002 source IN DESCENDING ORDER OF PRIORITY using the NIH Reference column structure (Priority # / Source / Commodity / Citation / Checked? / Result / File Annotation). Include rows for OLAO Pers</a:t>
            </a:r>
          </a:p>
          <a:p>
            <a:pPr>
              <a:spcBef>
                <a:spcPts val="200"/>
              </a:spcBef>
            </a:pPr>
            <a:r>
              <a:rPr sz="900" b="1">
                <a:solidFill>
                  <a:srgbClr val="003366"/>
                </a:solidFill>
              </a:rPr>
              <a:t>4. </a:t>
            </a:r>
            <a:r>
              <a:rPr sz="900" b="1">
                <a:solidFill>
                  <a:srgbClr val="1C1C1C"/>
                </a:solidFill>
              </a:rPr>
              <a:t>HHSAM 308.104 THREE-TIER REQUIRED SOURCES CHECK - </a:t>
            </a:r>
            <a:r>
              <a:rPr sz="900">
                <a:solidFill>
                  <a:srgbClr val="555555"/>
                </a:solidFill>
              </a:rPr>
              <a:t>Subsection capturing the HHS-specific check that occurs BEFORE proceeding to FSS / GWAC / open market:</a:t>
            </a:r>
          </a:p>
          <a:p>
            <a:pPr>
              <a:spcBef>
                <a:spcPts val="200"/>
              </a:spcBef>
            </a:pPr>
            <a:r>
              <a:rPr sz="900" b="1">
                <a:solidFill>
                  <a:srgbClr val="003366"/>
                </a:solidFill>
              </a:rPr>
              <a:t>5. </a:t>
            </a:r>
            <a:r>
              <a:rPr sz="900" b="1">
                <a:solidFill>
                  <a:srgbClr val="1C1C1C"/>
                </a:solidFill>
              </a:rPr>
              <a:t>PREFERRED / BIC / NIH-WIDE VEHICLES - </a:t>
            </a:r>
            <a:r>
              <a:rPr sz="900">
                <a:solidFill>
                  <a:srgbClr val="555555"/>
                </a:solidFill>
              </a:rPr>
              <a:t>Verify current status at HHSAP Category Management quick link (status is dynamic — do not rely on prior designations). Address NIH-wide vehicles where in scope: NITAAC, NIHCATS III, LTASC III, PICS II, NIHBPSS II, NIH Il</a:t>
            </a:r>
          </a:p>
          <a:p>
            <a:pPr>
              <a:spcBef>
                <a:spcPts val="200"/>
              </a:spcBef>
            </a:pPr>
            <a:r>
              <a:rPr sz="900" b="1">
                <a:solidFill>
                  <a:srgbClr val="003366"/>
                </a:solidFill>
              </a:rPr>
              <a:t>6. </a:t>
            </a:r>
            <a:r>
              <a:rPr sz="900" b="1">
                <a:solidFill>
                  <a:srgbClr val="1C1C1C"/>
                </a:solidFill>
              </a:rPr>
              <a:t>FSSI / COMPARATIVE VALUE - </a:t>
            </a:r>
            <a:r>
              <a:rPr sz="900">
                <a:solidFill>
                  <a:srgbClr val="555555"/>
                </a:solidFill>
              </a:rPr>
              <a:t>If FSSI vehicle in scope but not used, file MUST include comparative-value analysis (price + non-price factors) per FAR 8.004(a)(1)</a:t>
            </a:r>
          </a:p>
          <a:p>
            <a:pPr>
              <a:spcBef>
                <a:spcPts val="200"/>
              </a:spcBef>
            </a:pPr>
            <a:r>
              <a:rPr sz="900" b="1">
                <a:solidFill>
                  <a:srgbClr val="003366"/>
                </a:solidFill>
              </a:rPr>
              <a:t>7. </a:t>
            </a:r>
            <a:r>
              <a:rPr sz="900" b="1">
                <a:solidFill>
                  <a:srgbClr val="1C1C1C"/>
                </a:solidFill>
              </a:rPr>
              <a:t>FINDING - </a:t>
            </a:r>
            <a:r>
              <a:rPr sz="900">
                <a:solidFill>
                  <a:srgbClr val="555555"/>
                </a:solidFill>
              </a:rPr>
              <a:t>Explicit statement identifying the selected source, the controlling FAR / HHSAM citation, and (if a higher-tier source was bypassed) the exception authority and approval status</a:t>
            </a:r>
          </a:p>
          <a:p>
            <a:pPr>
              <a:spcBef>
                <a:spcPts val="200"/>
              </a:spcBef>
            </a:pPr>
            <a:r>
              <a:rPr sz="900" b="1">
                <a:solidFill>
                  <a:srgbClr val="003366"/>
                </a:solidFill>
              </a:rPr>
              <a:t>8. </a:t>
            </a:r>
            <a:r>
              <a:rPr sz="900" b="1">
                <a:solidFill>
                  <a:srgbClr val="1C1C1C"/>
                </a:solidFill>
              </a:rPr>
              <a:t>SIGNATURE - </a:t>
            </a:r>
            <a:r>
              <a:rPr sz="900">
                <a:solidFill>
                  <a:srgbClr val="555555"/>
                </a:solidFill>
              </a:rPr>
              <a:t>Card holder / contracting officer; cite required co-approver (HCA / SPE / HHS CIO) where applicable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Office supplies, $7,500 micro-purchase (paper, pens, toner) for NCI Shady Grove. Threshold: below MPT.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6 of 8 - Subcontracting Plan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subk_review</a:t>
            </a:r>
          </a:p>
          <a:p>
            <a:pPr>
              <a:spcAft>
                <a:spcPts val="100"/>
              </a:spcAft>
            </a:pPr>
            <a:r>
              <a:rPr sz="1000" b="1">
                <a:solidFill>
                  <a:srgbClr val="003366"/>
                </a:solidFill>
              </a:rPr>
              <a:t>authority:  </a:t>
            </a:r>
            <a:r>
              <a:rPr sz="1000">
                <a:solidFill>
                  <a:srgbClr val="1C1C1C"/>
                </a:solidFill>
              </a:rPr>
              <a:t>FAR 19.705-4 (codified) / RFO FAR 19.302-2 (operative for HHS per HHS FAR CD 2026-01); FAR 52.219-9 (Small Business Subcontracting Plan, 15 elements at (d)(1)–(d)(15)); FAR 52.219-16 (Liquidated Damag</a:t>
            </a:r>
          </a:p>
          <a:p>
            <a:pPr>
              <a:spcAft>
                <a:spcPts val="100"/>
              </a:spcAft>
            </a:pPr>
            <a:r>
              <a:rPr sz="1000" b="1">
                <a:solidFill>
                  <a:srgbClr val="003366"/>
                </a:solidFill>
              </a:rPr>
              <a:t>audience:  </a:t>
            </a:r>
            <a:r>
              <a:rPr sz="1000">
                <a:solidFill>
                  <a:srgbClr val="1C1C1C"/>
                </a:solidFill>
              </a:rPr>
              <a:t>Contracting Officer (Step 1 reviewer of record); OSDBU Small Business Specialist (Step 2, advisory); SBA Procurement Center Representative (Step 3, advisory with strong weight per SOP); contract file.</a:t>
            </a:r>
          </a:p>
          <a:p>
            <a:pPr>
              <a:spcAft>
                <a:spcPts val="100"/>
              </a:spcAft>
            </a:pPr>
            <a:r>
              <a:rPr sz="1000" b="1">
                <a:solidFill>
                  <a:srgbClr val="003366"/>
                </a:solidFill>
              </a:rPr>
              <a:t>KB source:  </a:t>
            </a:r>
            <a:r>
              <a:rPr sz="1000">
                <a:solidFill>
                  <a:srgbClr val="1C1C1C"/>
                </a:solidFill>
              </a:rPr>
              <a:t>HHS SubK Review Process SOP</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MEMO HEADER - </a:t>
            </a:r>
            <a:r>
              <a:rPr sz="900">
                <a:solidFill>
                  <a:srgbClr val="555555"/>
                </a:solidFill>
              </a:rPr>
              <a:t>Date, contractor, solicitation/contract number, plan version, NAICS, total contract value, reviewing CO; flag whether HHSAR 352.219-70 was included in the solicitation per HHSAR 319.270-1</a:t>
            </a:r>
          </a:p>
          <a:p>
            <a:pPr>
              <a:spcBef>
                <a:spcPts val="200"/>
              </a:spcBef>
            </a:pPr>
            <a:r>
              <a:rPr sz="900" b="1">
                <a:solidFill>
                  <a:srgbClr val="003366"/>
                </a:solidFill>
              </a:rPr>
              <a:t>2. </a:t>
            </a:r>
            <a:r>
              <a:rPr sz="900" b="1">
                <a:solidFill>
                  <a:srgbClr val="1C1C1C"/>
                </a:solidFill>
              </a:rPr>
              <a:t>PLAN TYPE - </a:t>
            </a:r>
            <a:r>
              <a:rPr sz="900">
                <a:solidFill>
                  <a:srgbClr val="555555"/>
                </a:solidFill>
              </a:rPr>
              <a:t>Individual / Master + Individual Addendum / Commercial (FAR 19.704). If "Master" is checked, "Individual" addendum must ALSO be checked and both documents submitted (per SOP).</a:t>
            </a:r>
          </a:p>
          <a:p>
            <a:pPr>
              <a:spcBef>
                <a:spcPts val="200"/>
              </a:spcBef>
            </a:pPr>
            <a:r>
              <a:rPr sz="900" b="1">
                <a:solidFill>
                  <a:srgbClr val="003366"/>
                </a:solidFill>
              </a:rPr>
              <a:t>3. </a:t>
            </a:r>
            <a:r>
              <a:rPr sz="900" b="1">
                <a:solidFill>
                  <a:srgbClr val="1C1C1C"/>
                </a:solidFill>
              </a:rPr>
              <a:t>DOCUMENTATION PACKAGE RECEIVED - </a:t>
            </a:r>
            <a:r>
              <a:rPr sz="900">
                <a:solidFill>
                  <a:srgbClr val="555555"/>
                </a:solidFill>
              </a:rPr>
              <a:t>Confirm the four-item package required by the SOP: (a) signed HHS Subcontracting Plan Review Form, (b) signed plan with all 15 elements, (c) Summary of Proposed Costs from Final Proposal Revision, (d) supplemental docume</a:t>
            </a:r>
          </a:p>
          <a:p>
            <a:pPr>
              <a:spcBef>
                <a:spcPts val="200"/>
              </a:spcBef>
            </a:pPr>
            <a:r>
              <a:rPr sz="900" b="1">
                <a:solidFill>
                  <a:srgbClr val="003366"/>
                </a:solidFill>
              </a:rPr>
              <a:t>4. </a:t>
            </a:r>
            <a:r>
              <a:rPr sz="900" b="1">
                <a:solidFill>
                  <a:srgbClr val="1C1C1C"/>
                </a:solidFill>
              </a:rPr>
              <a:t>ADEQUACY REVIEW CHECKLIST - </a:t>
            </a:r>
            <a:r>
              <a:rPr sz="900">
                <a:solidFill>
                  <a:srgbClr val="555555"/>
                </a:solidFill>
              </a:rPr>
              <a:t>15-row table covering each FAR 52.219-9(d)(1)–(d)(15) element (see worked example) with Present? / Adequate? / Reviewer Notes columns</a:t>
            </a:r>
          </a:p>
          <a:p>
            <a:pPr>
              <a:spcBef>
                <a:spcPts val="200"/>
              </a:spcBef>
            </a:pPr>
            <a:r>
              <a:rPr sz="900" b="1">
                <a:solidFill>
                  <a:srgbClr val="003366"/>
                </a:solidFill>
              </a:rPr>
              <a:t>5. </a:t>
            </a:r>
            <a:r>
              <a:rPr sz="900" b="1">
                <a:solidFill>
                  <a:srgbClr val="1C1C1C"/>
                </a:solidFill>
              </a:rPr>
              <a:t>GOAL REASONABLENESS ANALYSIS - </a:t>
            </a:r>
            <a:r>
              <a:rPr sz="900">
                <a:solidFill>
                  <a:srgbClr val="555555"/>
                </a:solidFill>
              </a:rPr>
              <a:t>Goals must cover **six** SB socioeconomic categories (SB, VOSB, SDVOSB, HUBZone, SDB, WOSB) expressed as BOTH dollars AND percentage of total subcontracting dollars. The "other than small business" line on the HHS form i</a:t>
            </a:r>
          </a:p>
          <a:p>
            <a:pPr>
              <a:spcBef>
                <a:spcPts val="200"/>
              </a:spcBef>
            </a:pPr>
            <a:r>
              <a:rPr sz="900" b="1">
                <a:solidFill>
                  <a:srgbClr val="003366"/>
                </a:solidFill>
              </a:rPr>
              <a:t>6. </a:t>
            </a:r>
            <a:r>
              <a:rPr sz="900" b="1">
                <a:solidFill>
                  <a:srgbClr val="1C1C1C"/>
                </a:solidFill>
              </a:rPr>
              <a:t>PAST PERFORMANCE CONSIDERATION - </a:t>
            </a:r>
            <a:r>
              <a:rPr sz="900">
                <a:solidFill>
                  <a:srgbClr val="555555"/>
                </a:solidFill>
              </a:rPr>
              <a:t>Per FAR 19.705-4 / RFO 19.302-2: review of prior eSRS reports, ISR/SSR submission history, prior good-faith effort indicators</a:t>
            </a:r>
          </a:p>
          <a:p>
            <a:pPr>
              <a:spcBef>
                <a:spcPts val="200"/>
              </a:spcBef>
            </a:pPr>
            <a:r>
              <a:rPr sz="900" b="1">
                <a:solidFill>
                  <a:srgbClr val="003366"/>
                </a:solidFill>
              </a:rPr>
              <a:t>7. </a:t>
            </a:r>
            <a:r>
              <a:rPr sz="900" b="1">
                <a:solidFill>
                  <a:srgbClr val="1C1C1C"/>
                </a:solidFill>
              </a:rPr>
              <a:t>CO DETERMINATIONS (THREE, per SOP) - </a:t>
            </a:r>
            <a:r>
              <a:rPr sz="900">
                <a:solidFill>
                  <a:srgbClr val="555555"/>
                </a:solidFill>
              </a:rPr>
              <a:t>Yes/No on each: (a) Plan meets FAR 19.704 requirements; (b) Past performance considered; (c) Additional pre-award review required</a:t>
            </a:r>
          </a:p>
          <a:p>
            <a:pPr>
              <a:spcBef>
                <a:spcPts val="200"/>
              </a:spcBef>
            </a:pPr>
            <a:r>
              <a:rPr sz="900" b="1">
                <a:solidFill>
                  <a:srgbClr val="003366"/>
                </a:solidFill>
              </a:rPr>
              <a:t>8. </a:t>
            </a:r>
            <a:r>
              <a:rPr sz="900" b="1">
                <a:solidFill>
                  <a:srgbClr val="1C1C1C"/>
                </a:solidFill>
              </a:rPr>
              <a:t>STEP 2 - </a:t>
            </a:r>
            <a:r>
              <a:rPr sz="900">
                <a:solidFill>
                  <a:srgbClr val="555555"/>
                </a:solidFill>
              </a:rPr>
              <a:t>OSDBU SMALL BUSINESS SPECIALIST POSITION — Date submitted, date returned, SBS recommendation (acceptance / rejection), SBS signature</a:t>
            </a:r>
          </a:p>
          <a:p>
            <a:pPr>
              <a:spcBef>
                <a:spcPts val="200"/>
              </a:spcBef>
            </a:pPr>
            <a:r>
              <a:rPr sz="900" b="1">
                <a:solidFill>
                  <a:srgbClr val="003366"/>
                </a:solidFill>
              </a:rPr>
              <a:t>9. </a:t>
            </a:r>
            <a:r>
              <a:rPr sz="900" b="1">
                <a:solidFill>
                  <a:srgbClr val="1C1C1C"/>
                </a:solidFill>
              </a:rPr>
              <a:t>STEP 3 - </a:t>
            </a:r>
            <a:r>
              <a:rPr sz="900">
                <a:solidFill>
                  <a:srgbClr val="555555"/>
                </a:solidFill>
              </a:rPr>
              <a:t>SBA PCR POSITION — Date submitted, date returned, concur / non-concur, signature on review form AND plan signature page (both required by SOP)</a:t>
            </a:r>
          </a:p>
          <a:p>
            <a:pPr>
              <a:spcBef>
                <a:spcPts val="200"/>
              </a:spcBef>
            </a:pPr>
            <a:r>
              <a:rPr sz="900" b="1">
                <a:solidFill>
                  <a:srgbClr val="003366"/>
                </a:solidFill>
              </a:rPr>
              <a:t>10. </a:t>
            </a:r>
            <a:r>
              <a:rPr sz="900" b="1">
                <a:solidFill>
                  <a:srgbClr val="1C1C1C"/>
                </a:solidFill>
              </a:rPr>
              <a:t>FINDINGS / DEFICIENCIES - </a:t>
            </a:r>
            <a:r>
              <a:rPr sz="900">
                <a:solidFill>
                  <a:srgbClr val="555555"/>
                </a:solidFill>
              </a:rPr>
              <a:t>Itemized; tied to the specific (d)(1)–(d)(15) element that fails. Common issues per SOP: goals too low, methodology deficient, indirect-cost statement unclear, administrator undefined, FAR 52.219-8 flowdown missing.</a:t>
            </a:r>
          </a:p>
          <a:p>
            <a:pPr>
              <a:spcBef>
                <a:spcPts val="200"/>
              </a:spcBef>
            </a:pPr>
            <a:r>
              <a:rPr sz="900" b="1">
                <a:solidFill>
                  <a:srgbClr val="003366"/>
                </a:solidFill>
              </a:rPr>
              <a:t>11. </a:t>
            </a:r>
            <a:r>
              <a:rPr sz="900" b="1">
                <a:solidFill>
                  <a:srgbClr val="1C1C1C"/>
                </a:solidFill>
              </a:rPr>
              <a:t>RECOMMENDATION - </a:t>
            </a:r>
            <a:r>
              <a:rPr sz="900">
                <a:solidFill>
                  <a:srgbClr val="555555"/>
                </a:solidFill>
              </a:rPr>
              <a:t>Approve / Approve subject to revisions / Return for revision / Reject. If contractor refuses to correct deficiencies, plan is unacceptable and award cannot be made (SOP).</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Context: Contract HHSN-XXX, NAICS 541512 (Computer Systems Design Services), $5.0M, contractor proposes 28% small business goal. Plan version v2 dated 2026-04-15.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7 of 8 - Quality Assurance Surveillance Plan</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qasp</a:t>
            </a:r>
          </a:p>
          <a:p>
            <a:pPr>
              <a:spcAft>
                <a:spcPts val="100"/>
              </a:spcAft>
            </a:pPr>
            <a:r>
              <a:rPr sz="1000" b="1">
                <a:solidFill>
                  <a:srgbClr val="003366"/>
                </a:solidFill>
              </a:rPr>
              <a:t>authority:  </a:t>
            </a:r>
            <a:r>
              <a:rPr sz="1000">
                <a:solidFill>
                  <a:srgbClr val="1C1C1C"/>
                </a:solidFill>
              </a:rPr>
              <a:t>FAR 46.401 (Government Contract Quality Assurance), FAR Subpart 37.6 (Performance-Based Acquisition), NIH Performance-Based Acquisition handbook.</a:t>
            </a:r>
          </a:p>
          <a:p>
            <a:pPr>
              <a:spcAft>
                <a:spcPts val="100"/>
              </a:spcAft>
            </a:pPr>
            <a:r>
              <a:rPr sz="1000" b="1">
                <a:solidFill>
                  <a:srgbClr val="003366"/>
                </a:solidFill>
              </a:rPr>
              <a:t>audience:  </a:t>
            </a:r>
            <a:r>
              <a:rPr sz="1000">
                <a:solidFill>
                  <a:srgbClr val="1C1C1C"/>
                </a:solidFill>
              </a:rPr>
              <a:t>Contracting Officer's Representative (primary user — executes surveillance), Contracting Officer (approves the plan and acts on findings), contractor (referenced in CPARS and remedy actions).</a:t>
            </a:r>
          </a:p>
          <a:p>
            <a:pPr>
              <a:spcAft>
                <a:spcPts val="100"/>
              </a:spcAft>
            </a:pPr>
            <a:r>
              <a:rPr sz="1000" b="1">
                <a:solidFill>
                  <a:srgbClr val="003366"/>
                </a:solidFill>
              </a:rPr>
              <a:t>KB source:  </a:t>
            </a:r>
            <a:r>
              <a:rPr sz="1000">
                <a:solidFill>
                  <a:srgbClr val="1C1C1C"/>
                </a:solidFill>
              </a:rPr>
              <a:t>(no KB source - FAR 46.401 only)</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PURPOSE - </a:t>
            </a:r>
            <a:r>
              <a:rPr sz="900">
                <a:solidFill>
                  <a:srgbClr val="555555"/>
                </a:solidFill>
              </a:rPr>
              <a:t>One paragraph stating the methods and resources the Government will use to monitor contractor performance against the PWS performance standards</a:t>
            </a:r>
          </a:p>
          <a:p>
            <a:pPr>
              <a:spcBef>
                <a:spcPts val="200"/>
              </a:spcBef>
            </a:pPr>
            <a:r>
              <a:rPr sz="900" b="1">
                <a:solidFill>
                  <a:srgbClr val="003366"/>
                </a:solidFill>
              </a:rPr>
              <a:t>2. </a:t>
            </a:r>
            <a:r>
              <a:rPr sz="900" b="1">
                <a:solidFill>
                  <a:srgbClr val="1C1C1C"/>
                </a:solidFill>
              </a:rPr>
              <a:t>SCOPE - </a:t>
            </a:r>
            <a:r>
              <a:rPr sz="900">
                <a:solidFill>
                  <a:srgbClr val="555555"/>
                </a:solidFill>
              </a:rPr>
              <a:t>Reference the associated PWS / contract number; list the contractor performance objectives covered and the period of surveillance</a:t>
            </a:r>
          </a:p>
          <a:p>
            <a:pPr>
              <a:spcBef>
                <a:spcPts val="200"/>
              </a:spcBef>
            </a:pPr>
            <a:r>
              <a:rPr sz="900" b="1">
                <a:solidFill>
                  <a:srgbClr val="003366"/>
                </a:solidFill>
              </a:rPr>
              <a:t>3. </a:t>
            </a:r>
            <a:r>
              <a:rPr sz="900" b="1">
                <a:solidFill>
                  <a:srgbClr val="1C1C1C"/>
                </a:solidFill>
              </a:rPr>
              <a:t>ROLES AND RESPONSIBILITIES - </a:t>
            </a:r>
            <a:r>
              <a:rPr sz="900">
                <a:solidFill>
                  <a:srgbClr val="555555"/>
                </a:solidFill>
              </a:rPr>
              <a:t>Contracting Officer's Representative (primary surveillance), Contracting Officer (remedy authority), Technical Point of Contact, alternate COR, and any specialized surveillance team members</a:t>
            </a:r>
          </a:p>
          <a:p>
            <a:pPr>
              <a:spcBef>
                <a:spcPts val="200"/>
              </a:spcBef>
            </a:pPr>
            <a:r>
              <a:rPr sz="900" b="1">
                <a:solidFill>
                  <a:srgbClr val="003366"/>
                </a:solidFill>
              </a:rPr>
              <a:t>4. </a:t>
            </a:r>
            <a:r>
              <a:rPr sz="900" b="1">
                <a:solidFill>
                  <a:srgbClr val="1C1C1C"/>
                </a:solidFill>
              </a:rPr>
              <a:t>PERFORMANCE OBJECTIVES TABLE - </a:t>
            </a:r>
            <a:r>
              <a:rPr sz="900">
                <a:solidFill>
                  <a:srgbClr val="555555"/>
                </a:solidFill>
              </a:rPr>
              <a:t>One row per PWS objective with columns: Objective | PWS Reference | Performance Standard (AQL) | Surveillance Method | Frequency | Acceptable Performance</a:t>
            </a:r>
          </a:p>
          <a:p>
            <a:pPr>
              <a:spcBef>
                <a:spcPts val="200"/>
              </a:spcBef>
            </a:pPr>
            <a:r>
              <a:rPr sz="900" b="1">
                <a:solidFill>
                  <a:srgbClr val="003366"/>
                </a:solidFill>
              </a:rPr>
              <a:t>5. </a:t>
            </a:r>
            <a:r>
              <a:rPr sz="900" b="1">
                <a:solidFill>
                  <a:srgbClr val="1C1C1C"/>
                </a:solidFill>
              </a:rPr>
              <a:t>SURVEILLANCE METHODS CATALOG - </a:t>
            </a:r>
            <a:r>
              <a:rPr sz="900">
                <a:solidFill>
                  <a:srgbClr val="555555"/>
                </a:solidFill>
              </a:rPr>
              <a:t>Define each method used (100% inspection, random sampling, periodic inspection, customer complaint, third-party audit) and the conditions under which each applies</a:t>
            </a:r>
          </a:p>
          <a:p>
            <a:pPr>
              <a:spcBef>
                <a:spcPts val="200"/>
              </a:spcBef>
            </a:pPr>
            <a:r>
              <a:rPr sz="900" b="1">
                <a:solidFill>
                  <a:srgbClr val="003366"/>
                </a:solidFill>
              </a:rPr>
              <a:t>6. </a:t>
            </a:r>
            <a:r>
              <a:rPr sz="900" b="1">
                <a:solidFill>
                  <a:srgbClr val="1C1C1C"/>
                </a:solidFill>
              </a:rPr>
              <a:t>ACCEPTABLE QUALITY LEVELS (AQLs) - </a:t>
            </a:r>
            <a:r>
              <a:rPr sz="900">
                <a:solidFill>
                  <a:srgbClr val="555555"/>
                </a:solidFill>
              </a:rPr>
              <a:t>State the AQL for each objective in measurable terms (percent / time / count / dollar) with the calculation method</a:t>
            </a:r>
          </a:p>
          <a:p>
            <a:pPr>
              <a:spcBef>
                <a:spcPts val="200"/>
              </a:spcBef>
            </a:pPr>
            <a:r>
              <a:rPr sz="900" b="1">
                <a:solidFill>
                  <a:srgbClr val="003366"/>
                </a:solidFill>
              </a:rPr>
              <a:t>7. </a:t>
            </a:r>
            <a:r>
              <a:rPr sz="900" b="1">
                <a:solidFill>
                  <a:srgbClr val="1C1C1C"/>
                </a:solidFill>
              </a:rPr>
              <a:t>INCENTIVES / DISINCENTIVES - </a:t>
            </a:r>
            <a:r>
              <a:rPr sz="900">
                <a:solidFill>
                  <a:srgbClr val="555555"/>
                </a:solidFill>
              </a:rPr>
              <a:t>How performance translates to award fee, incentive fee, or remedy action (cure notice, show-cause, fee reduction); omit this section if FFP without incentive structure</a:t>
            </a:r>
          </a:p>
          <a:p>
            <a:pPr>
              <a:spcBef>
                <a:spcPts val="200"/>
              </a:spcBef>
            </a:pPr>
            <a:r>
              <a:rPr sz="900" b="1">
                <a:solidFill>
                  <a:srgbClr val="003366"/>
                </a:solidFill>
              </a:rPr>
              <a:t>8. </a:t>
            </a:r>
            <a:r>
              <a:rPr sz="900" b="1">
                <a:solidFill>
                  <a:srgbClr val="1C1C1C"/>
                </a:solidFill>
              </a:rPr>
              <a:t>DOCUMENTATION AND REPORTING - </a:t>
            </a:r>
            <a:r>
              <a:rPr sz="900">
                <a:solidFill>
                  <a:srgbClr val="555555"/>
                </a:solidFill>
              </a:rPr>
              <a:t>Surveillance logs, monthly performance assessments, COR file maintenance, CPARS inputs, contractor notification protocol</a:t>
            </a:r>
          </a:p>
          <a:p>
            <a:pPr>
              <a:spcBef>
                <a:spcPts val="200"/>
              </a:spcBef>
            </a:pPr>
            <a:r>
              <a:rPr sz="900" b="1">
                <a:solidFill>
                  <a:srgbClr val="003366"/>
                </a:solidFill>
              </a:rPr>
              <a:t>9. </a:t>
            </a:r>
            <a:r>
              <a:rPr sz="900" b="1">
                <a:solidFill>
                  <a:srgbClr val="1C1C1C"/>
                </a:solidFill>
              </a:rPr>
              <a:t>SIGNATURE BLOCK - </a:t>
            </a:r>
            <a:r>
              <a:rPr sz="900">
                <a:solidFill>
                  <a:srgbClr val="555555"/>
                </a:solidFill>
              </a:rPr>
              <a:t>Contracting Officer's Representative and Contracting Officer</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Genomic data analysis platform — uptime 99.5%, ticket resolution 4-hour SLA, monthly compliance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8 of 8 - Source Selection Plan (SSP)</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source_selection_plan</a:t>
            </a:r>
          </a:p>
          <a:p>
            <a:pPr>
              <a:spcAft>
                <a:spcPts val="100"/>
              </a:spcAft>
            </a:pPr>
            <a:r>
              <a:rPr sz="1000" b="1">
                <a:solidFill>
                  <a:srgbClr val="003366"/>
                </a:solidFill>
              </a:rPr>
              <a:t>authority:  </a:t>
            </a:r>
            <a:r>
              <a:rPr sz="1000">
                <a:solidFill>
                  <a:srgbClr val="1C1C1C"/>
                </a:solidFill>
              </a:rPr>
              <a:t>— RFO FAR 15.3 (Source Selection); RFO FAR 15.103-4 (Phased Acquisition); RFO FAR 15.205 (Source Selection Decision); RFO FAR 15.206 (Preaward Notices and Debriefings); RFO FAR 15.306 (Exchanges with </a:t>
            </a:r>
          </a:p>
          <a:p>
            <a:pPr>
              <a:spcAft>
                <a:spcPts val="100"/>
              </a:spcAft>
            </a:pPr>
            <a:r>
              <a:rPr sz="1000" b="1">
                <a:solidFill>
                  <a:srgbClr val="003366"/>
                </a:solidFill>
              </a:rPr>
              <a:t>audience:  </a:t>
            </a:r>
            <a:r>
              <a:rPr sz="1000">
                <a:solidFill>
                  <a:srgbClr val="1C1C1C"/>
                </a:solidFill>
              </a:rPr>
              <a:t>— Source Selection Authority (SSA), Contracting Officer (CO), Technical Evaluation Team (TET) Chair and members, Cost/Price Analyst, HHS/OGC Legal Counsel, Small Business Specialist (SBS), and (NIH on</a:t>
            </a:r>
          </a:p>
          <a:p>
            <a:pPr>
              <a:spcAft>
                <a:spcPts val="100"/>
              </a:spcAft>
            </a:pPr>
            <a:r>
              <a:rPr sz="1000" b="1">
                <a:solidFill>
                  <a:srgbClr val="003366"/>
                </a:solidFill>
              </a:rPr>
              <a:t>KB source:  </a:t>
            </a:r>
            <a:r>
              <a:rPr sz="1000">
                <a:solidFill>
                  <a:srgbClr val="1C1C1C"/>
                </a:solidFill>
              </a:rPr>
              <a:t>HHS Down Select Guides</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ACQUISITION OVERVIEW - </a:t>
            </a:r>
            <a:r>
              <a:rPr sz="900">
                <a:solidFill>
                  <a:srgbClr val="555555"/>
                </a:solidFill>
              </a:rPr>
              <a:t>Requirement title, estimated value, period of performance, NAICS code, set-aside status, vehicle (open market / FSS / IDIQ / GWAC), and contract type. State whether the acquisition is single-phase or phased; if phased, c</a:t>
            </a:r>
          </a:p>
          <a:p>
            <a:pPr>
              <a:spcBef>
                <a:spcPts val="200"/>
              </a:spcBef>
            </a:pPr>
            <a:r>
              <a:rPr sz="900" b="1">
                <a:solidFill>
                  <a:srgbClr val="003366"/>
                </a:solidFill>
              </a:rPr>
              <a:t>2. </a:t>
            </a:r>
            <a:r>
              <a:rPr sz="900" b="1">
                <a:solidFill>
                  <a:srgbClr val="1C1C1C"/>
                </a:solidFill>
              </a:rPr>
              <a:t>SOURCE SELECTION AUTHORITY (SSA) DESIGNATION - </a:t>
            </a:r>
            <a:r>
              <a:rPr sz="900">
                <a:solidFill>
                  <a:srgbClr val="555555"/>
                </a:solidFill>
              </a:rPr>
              <a:t>Named SSA and decision authority. The SSA approves the source selection approach BEFORE RFP issuance per RFO FAR 15.201, ensures proposals are evaluated solely on the factors and subfactors stated in the RFP, and selects</a:t>
            </a:r>
          </a:p>
          <a:p>
            <a:pPr>
              <a:spcBef>
                <a:spcPts val="200"/>
              </a:spcBef>
            </a:pPr>
            <a:r>
              <a:rPr sz="900" b="1">
                <a:solidFill>
                  <a:srgbClr val="003366"/>
                </a:solidFill>
              </a:rPr>
              <a:t>3. </a:t>
            </a:r>
            <a:r>
              <a:rPr sz="900" b="1">
                <a:solidFill>
                  <a:srgbClr val="1C1C1C"/>
                </a:solidFill>
              </a:rPr>
              <a:t>SOURCE SELECTION TEAM COMPOSITION - </a:t>
            </a:r>
            <a:r>
              <a:rPr sz="900">
                <a:solidFill>
                  <a:srgbClr val="555555"/>
                </a:solidFill>
              </a:rPr>
              <a:t>Per the HHS Down Select Acquisition Guide and ACQuipedia, identify each role: SSA; CO (post-receipt focal point and exchange controller per RFO FAR 15.201); TET Chair and TET members (subject-matter experts performing th</a:t>
            </a:r>
          </a:p>
          <a:p>
            <a:pPr>
              <a:spcBef>
                <a:spcPts val="200"/>
              </a:spcBef>
            </a:pPr>
            <a:r>
              <a:rPr sz="900" b="1">
                <a:solidFill>
                  <a:srgbClr val="003366"/>
                </a:solidFill>
              </a:rPr>
              <a:t>4. </a:t>
            </a:r>
            <a:r>
              <a:rPr sz="900" b="1">
                <a:solidFill>
                  <a:srgbClr val="1C1C1C"/>
                </a:solidFill>
              </a:rPr>
              <a:t>EVALUATION FACTORS AND SUBFACTORS - </a:t>
            </a:r>
            <a:r>
              <a:rPr sz="900">
                <a:solidFill>
                  <a:srgbClr val="555555"/>
                </a:solidFill>
              </a:rPr>
              <a:t>Listed in descending order of importance with the relative-importance statement required by RFO FAR 15.104(d) ("significantly more important than" / "approximately equal to" / "significantly less important than" cost or </a:t>
            </a:r>
          </a:p>
          <a:p>
            <a:pPr>
              <a:spcBef>
                <a:spcPts val="200"/>
              </a:spcBef>
            </a:pPr>
            <a:r>
              <a:rPr sz="900" b="1">
                <a:solidFill>
                  <a:srgbClr val="003366"/>
                </a:solidFill>
              </a:rPr>
              <a:t>5. </a:t>
            </a:r>
            <a:r>
              <a:rPr sz="900" b="1">
                <a:solidFill>
                  <a:srgbClr val="1C1C1C"/>
                </a:solidFill>
              </a:rPr>
              <a:t>EVALUATION METHODOLOGY (RATING SCHEME) - </a:t>
            </a:r>
            <a:r>
              <a:rPr sz="900">
                <a:solidFill>
                  <a:srgbClr val="555555"/>
                </a:solidFill>
              </a:rPr>
              <a:t>Publish the adjectival/color rating definitions BEFORE evaluation begins. Use the HHS Down Select Guide's confidence-based scheme for past performance and prior experience: **High Confidence / Some Confidence / Low Confi</a:t>
            </a:r>
          </a:p>
          <a:p>
            <a:pPr>
              <a:spcBef>
                <a:spcPts val="200"/>
              </a:spcBef>
            </a:pPr>
            <a:r>
              <a:rPr sz="900" b="1">
                <a:solidFill>
                  <a:srgbClr val="003366"/>
                </a:solidFill>
              </a:rPr>
              <a:t>6. </a:t>
            </a:r>
            <a:r>
              <a:rPr sz="900" b="1">
                <a:solidFill>
                  <a:srgbClr val="1C1C1C"/>
                </a:solidFill>
              </a:rPr>
              <a:t>PRICE/COST ANALYSIS APPROACH - </a:t>
            </a:r>
            <a:r>
              <a:rPr sz="900">
                <a:solidFill>
                  <a:srgbClr val="555555"/>
                </a:solidFill>
              </a:rPr>
              <a:t>RFO FAR 15.4 techniques to be applied (price analysis, cost realism, cost reasonableness) and how price will be combined with non-price factors in the integrated assessment.</a:t>
            </a:r>
          </a:p>
          <a:p>
            <a:pPr>
              <a:spcBef>
                <a:spcPts val="200"/>
              </a:spcBef>
            </a:pPr>
            <a:r>
              <a:rPr sz="900" b="1">
                <a:solidFill>
                  <a:srgbClr val="003366"/>
                </a:solidFill>
              </a:rPr>
              <a:t>7. </a:t>
            </a:r>
            <a:r>
              <a:rPr sz="900" b="1">
                <a:solidFill>
                  <a:srgbClr val="1C1C1C"/>
                </a:solidFill>
              </a:rPr>
              <a:t>COMMUNICATIONS WITH OFFERORS - </a:t>
            </a:r>
            <a:r>
              <a:rPr sz="900">
                <a:solidFill>
                  <a:srgbClr val="555555"/>
                </a:solidFill>
              </a:rPr>
              <a:t>Per the HHS Down Select Acquisition Guide and RFO FAR 15.306, distinguish: **clarifications** (minor/clerical — no proposal revisions permitted); **communications** (with offerors near the competitive-range cut to enhanc</a:t>
            </a:r>
          </a:p>
          <a:p>
            <a:pPr>
              <a:spcBef>
                <a:spcPts val="200"/>
              </a:spcBef>
            </a:pPr>
            <a:r>
              <a:rPr sz="900" b="1">
                <a:solidFill>
                  <a:srgbClr val="003366"/>
                </a:solidFill>
              </a:rPr>
              <a:t>8. </a:t>
            </a:r>
            <a:r>
              <a:rPr sz="900" b="1">
                <a:solidFill>
                  <a:srgbClr val="1C1C1C"/>
                </a:solidFill>
              </a:rPr>
              <a:t>AWARD DECISION FRAMEWORK - </a:t>
            </a:r>
            <a:r>
              <a:rPr sz="900">
                <a:solidFill>
                  <a:srgbClr val="555555"/>
                </a:solidFill>
              </a:rPr>
              <a:t>Best-value tradeoff (RFO FAR 15.103-1), LPTA (RFO FAR 15.103-2), or Highest Technically Rated with Fair and Reasonable Price (RFO FAR 15.103-3). State how non-price superiority justifies a price premium. Per the HHS Down</a:t>
            </a:r>
          </a:p>
          <a:p>
            <a:pPr>
              <a:spcBef>
                <a:spcPts val="200"/>
              </a:spcBef>
            </a:pPr>
            <a:r>
              <a:rPr sz="900" b="1">
                <a:solidFill>
                  <a:srgbClr val="003366"/>
                </a:solidFill>
              </a:rPr>
              <a:t>9. </a:t>
            </a:r>
            <a:r>
              <a:rPr sz="900" b="1">
                <a:solidFill>
                  <a:srgbClr val="1C1C1C"/>
                </a:solidFill>
              </a:rPr>
              <a:t>DOCUMENTATION REQUIREMENTS - </a:t>
            </a:r>
            <a:r>
              <a:rPr sz="900">
                <a:solidFill>
                  <a:srgbClr val="555555"/>
                </a:solidFill>
              </a:rPr>
              <a:t>Per RFO FAR 15.205 and the HHS Down Select Evaluation Documentation Guide: Source Selection Decision Document (SSDD) signed by the SSA reflecting independent comparative judgment; for EACH offeror under EACH factor, a su</a:t>
            </a:r>
          </a:p>
          <a:p>
            <a:pPr>
              <a:spcBef>
                <a:spcPts val="200"/>
              </a:spcBef>
            </a:pPr>
            <a:r>
              <a:rPr sz="900" b="1">
                <a:solidFill>
                  <a:srgbClr val="003366"/>
                </a:solidFill>
              </a:rPr>
              <a:t>10. </a:t>
            </a:r>
            <a:r>
              <a:rPr sz="900" b="1">
                <a:solidFill>
                  <a:srgbClr val="1C1C1C"/>
                </a:solidFill>
              </a:rPr>
              <a:t>SCHEDULE - </a:t>
            </a:r>
            <a:r>
              <a:rPr sz="900">
                <a:solidFill>
                  <a:srgbClr val="555555"/>
                </a:solidFill>
              </a:rPr>
              <a:t>Solicitation issuance, proposal receipt, evaluation, competitive range, discussions (if any), final proposal revisions, SSDD, and award. For phased acquisitions, include Phase 1 deadline, Phase 1 evaluation period, advis</a:t>
            </a:r>
          </a:p>
          <a:p>
            <a:pPr>
              <a:spcBef>
                <a:spcPts val="200"/>
              </a:spcBef>
            </a:pPr>
            <a:r>
              <a:rPr sz="900" b="1">
                <a:solidFill>
                  <a:srgbClr val="003366"/>
                </a:solidFill>
              </a:rPr>
              <a:t>11. </a:t>
            </a:r>
            <a:r>
              <a:rPr sz="900" b="1">
                <a:solidFill>
                  <a:srgbClr val="1C1C1C"/>
                </a:solidFill>
              </a:rPr>
              <a:t>APPROVALS - </a:t>
            </a:r>
            <a:r>
              <a:rPr sz="900">
                <a:solidFill>
                  <a:srgbClr val="555555"/>
                </a:solidFill>
              </a:rPr>
              <a:t>SSA, CO, TET Chair, and HHS/OGC Legal Counsel signature block; SBS concurrence on set-aside; (NIH only) BCA, DAPE, or ISSO sign-offs as applicable.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&gt; 4. EVALUATION FACTORS AND SUBFACTORS
&gt;
&gt; The Government will evaluate proposals for the Cloud Genomics Analysis Platform acquisition against the following factors, listed in descending order of importance:
&gt;
&gt; | # | Factor | Subfactors | Rating Scheme | Importance |
&gt; |---|--------|------------|----------------|------------|
&gt; | 1 | Technical / Mission Suitability | (a) Solution Architecture &amp; Scalability; (b) Data Security &amp; FedRAMP Compliance; (c) Implementation &amp; Transition Approach | Outstanding / Good / Acceptable / Marginal / Unacceptable, with Risk overlay (Low / Moderate / High) | Most important |
&gt; | 2 | Past Performance | (a) Relevance of Recent Federal Cloud-Genomics Work; (b) Quality of Past Performance (CPARS / PPQ) | High Confidence / Some Confidence / Low Confidence | Second most important |
&gt; | 3 | Price | Total Evaluate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Approval Matrix</a:t>
            </a:r>
          </a:p>
        </p:txBody>
      </p:sp>
      <p:graphicFrame>
        <p:nvGraphicFramePr>
          <p:cNvPr id="4" name="Table 3"/>
          <p:cNvGraphicFramePr>
            <a:graphicFrameLocks noGrp="1"/>
          </p:cNvGraphicFramePr>
          <p:nvPr/>
        </p:nvGraphicFramePr>
        <p:xfrm>
          <a:off x="457200" y="1188720"/>
          <a:ext cx="10607040" cy="4937760"/>
        </p:xfrm>
        <a:graphic>
          <a:graphicData uri="http://schemas.openxmlformats.org/drawingml/2006/table">
            <a:tbl>
              <a:tblPr firstRow="1" bandRow="1">
                <a:tableStyleId>{5C22544A-7EE6-4342-B048-85BDC9FD1C3A}</a:tableStyleId>
              </a:tblPr>
              <a:tblGrid>
                <a:gridCol w="365760"/>
                <a:gridCol w="3657600"/>
                <a:gridCol w="640080"/>
                <a:gridCol w="1188720"/>
                <a:gridCol w="1188720"/>
                <a:gridCol w="1188720"/>
                <a:gridCol w="2377440"/>
              </a:tblGrid>
              <a:tr h="548640">
                <a:tc>
                  <a:txBody>
                    <a:bodyPr/>
                    <a:lstStyle/>
                    <a:p>
                      <a:pPr algn="ctr"/>
                      <a:r>
                        <a:rPr sz="1000" b="1">
                          <a:solidFill>
                            <a:srgbClr val="FFFFFF"/>
                          </a:solidFill>
                        </a:rPr>
                        <a:t>#</a:t>
                      </a:r>
                    </a:p>
                  </a:txBody>
                  <a:tcPr>
                    <a:solidFill>
                      <a:srgbClr val="003366"/>
                    </a:solidFill>
                  </a:tcPr>
                </a:tc>
                <a:tc>
                  <a:txBody>
                    <a:bodyPr/>
                    <a:lstStyle/>
                    <a:p>
                      <a:pPr algn="ctr"/>
                      <a:r>
                        <a:rPr sz="1000" b="1">
                          <a:solidFill>
                            <a:srgbClr val="FFFFFF"/>
                          </a:solidFill>
                        </a:rPr>
                        <a:t>Template</a:t>
                      </a:r>
                    </a:p>
                  </a:txBody>
                  <a:tcPr>
                    <a:solidFill>
                      <a:srgbClr val="003366"/>
                    </a:solidFill>
                  </a:tcPr>
                </a:tc>
                <a:tc>
                  <a:txBody>
                    <a:bodyPr/>
                    <a:lstStyle/>
                    <a:p>
                      <a:pPr algn="ctr"/>
                      <a:r>
                        <a:rPr sz="1000" b="1">
                          <a:solidFill>
                            <a:srgbClr val="FFFFFF"/>
                          </a:solidFill>
                        </a:rPr>
                        <a:t>Ver</a:t>
                      </a:r>
                    </a:p>
                  </a:txBody>
                  <a:tcPr>
                    <a:solidFill>
                      <a:srgbClr val="003366"/>
                    </a:solidFill>
                  </a:tcPr>
                </a:tc>
                <a:tc>
                  <a:txBody>
                    <a:bodyPr/>
                    <a:lstStyle/>
                    <a:p>
                      <a:pPr algn="ctr"/>
                      <a:r>
                        <a:rPr sz="1000" b="1">
                          <a:solidFill>
                            <a:srgbClr val="FFFFFF"/>
                          </a:solidFill>
                        </a:rPr>
                        <a:t>APPROVED</a:t>
                      </a:r>
                    </a:p>
                  </a:txBody>
                  <a:tcPr>
                    <a:solidFill>
                      <a:srgbClr val="003366"/>
                    </a:solidFill>
                  </a:tcPr>
                </a:tc>
                <a:tc>
                  <a:txBody>
                    <a:bodyPr/>
                    <a:lstStyle/>
                    <a:p>
                      <a:pPr algn="ctr"/>
                      <a:r>
                        <a:rPr sz="1000" b="1">
                          <a:solidFill>
                            <a:srgbClr val="FFFFFF"/>
                          </a:solidFill>
                        </a:rPr>
                        <a:t>W/ CHANGES</a:t>
                      </a:r>
                    </a:p>
                  </a:txBody>
                  <a:tcPr>
                    <a:solidFill>
                      <a:srgbClr val="003366"/>
                    </a:solidFill>
                  </a:tcPr>
                </a:tc>
                <a:tc>
                  <a:txBody>
                    <a:bodyPr/>
                    <a:lstStyle/>
                    <a:p>
                      <a:pPr algn="ctr"/>
                      <a:r>
                        <a:rPr sz="1000" b="1">
                          <a:solidFill>
                            <a:srgbClr val="FFFFFF"/>
                          </a:solidFill>
                        </a:rPr>
                        <a:t>REJECTED</a:t>
                      </a:r>
                    </a:p>
                  </a:txBody>
                  <a:tcPr>
                    <a:solidFill>
                      <a:srgbClr val="003366"/>
                    </a:solidFill>
                  </a:tcPr>
                </a:tc>
                <a:tc>
                  <a:txBody>
                    <a:bodyPr/>
                    <a:lstStyle/>
                    <a:p>
                      <a:pPr algn="ctr"/>
                      <a:r>
                        <a:rPr sz="1000" b="1">
                          <a:solidFill>
                            <a:srgbClr val="FFFFFF"/>
                          </a:solidFill>
                        </a:rPr>
                        <a:t>Comments</a:t>
                      </a:r>
                    </a:p>
                  </a:txBody>
                  <a:tcPr>
                    <a:solidFill>
                      <a:srgbClr val="003366"/>
                    </a:solidFill>
                  </a:tcPr>
                </a:tc>
              </a:tr>
              <a:tr h="548640">
                <a:tc>
                  <a:txBody>
                    <a:bodyPr/>
                    <a:lstStyle/>
                    <a:p>
                      <a:pPr algn="ctr"/>
                      <a:r>
                        <a:rPr sz="900">
                          <a:solidFill>
                            <a:srgbClr val="1C1C1C"/>
                          </a:solidFill>
                        </a:rPr>
                        <a:t>1</a:t>
                      </a:r>
                    </a:p>
                  </a:txBody>
                  <a:tcPr/>
                </a:tc>
                <a:tc>
                  <a:txBody>
                    <a:bodyPr/>
                    <a:lstStyle/>
                    <a:p>
                      <a:r>
                        <a:rPr sz="900">
                          <a:solidFill>
                            <a:srgbClr val="1C1C1C"/>
                          </a:solidFill>
                        </a:rPr>
                        <a:t>COR Designation Letter</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2</a:t>
                      </a:r>
                    </a:p>
                  </a:txBody>
                  <a:tcPr>
                    <a:solidFill>
                      <a:srgbClr val="F6F8FB"/>
                    </a:solidFill>
                  </a:tcPr>
                </a:tc>
                <a:tc>
                  <a:txBody>
                    <a:bodyPr/>
                    <a:lstStyle/>
                    <a:p>
                      <a:r>
                        <a:rPr sz="900">
                          <a:solidFill>
                            <a:srgbClr val="1C1C1C"/>
                          </a:solidFill>
                        </a:rPr>
                        <a:t>HHS-653 Small Business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3</a:t>
                      </a:r>
                    </a:p>
                  </a:txBody>
                  <a:tcPr/>
                </a:tc>
                <a:tc>
                  <a:txBody>
                    <a:bodyPr/>
                    <a:lstStyle/>
                    <a:p>
                      <a:r>
                        <a:rPr sz="900">
                          <a:solidFill>
                            <a:srgbClr val="1C1C1C"/>
                          </a:solidFill>
                        </a:rPr>
                        <a:t>Section 889 Compliance</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4</a:t>
                      </a:r>
                    </a:p>
                  </a:txBody>
                  <a:tcPr>
                    <a:solidFill>
                      <a:srgbClr val="F6F8FB"/>
                    </a:solidFill>
                  </a:tcPr>
                </a:tc>
                <a:tc>
                  <a:txBody>
                    <a:bodyPr/>
                    <a:lstStyle/>
                    <a:p>
                      <a:r>
                        <a:rPr sz="900">
                          <a:solidFill>
                            <a:srgbClr val="1C1C1C"/>
                          </a:solidFill>
                        </a:rPr>
                        <a:t>Section 508 Compliance</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5</a:t>
                      </a:r>
                    </a:p>
                  </a:txBody>
                  <a:tcPr/>
                </a:tc>
                <a:tc>
                  <a:txBody>
                    <a:bodyPr/>
                    <a:lstStyle/>
                    <a:p>
                      <a:r>
                        <a:rPr sz="900">
                          <a:solidFill>
                            <a:srgbClr val="1C1C1C"/>
                          </a:solidFill>
                        </a:rPr>
                        <a:t>Required &amp; Priority Sources Checklist</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6</a:t>
                      </a:r>
                    </a:p>
                  </a:txBody>
                  <a:tcPr>
                    <a:solidFill>
                      <a:srgbClr val="F6F8FB"/>
                    </a:solidFill>
                  </a:tcPr>
                </a:tc>
                <a:tc>
                  <a:txBody>
                    <a:bodyPr/>
                    <a:lstStyle/>
                    <a:p>
                      <a:r>
                        <a:rPr sz="900">
                          <a:solidFill>
                            <a:srgbClr val="1C1C1C"/>
                          </a:solidFill>
                        </a:rPr>
                        <a:t>Subcontracting Plan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7</a:t>
                      </a:r>
                    </a:p>
                  </a:txBody>
                  <a:tcPr/>
                </a:tc>
                <a:tc>
                  <a:txBody>
                    <a:bodyPr/>
                    <a:lstStyle/>
                    <a:p>
                      <a:r>
                        <a:rPr sz="900">
                          <a:solidFill>
                            <a:srgbClr val="1C1C1C"/>
                          </a:solidFill>
                        </a:rPr>
                        <a:t>Quality Assurance Surveillance Plan</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8</a:t>
                      </a:r>
                    </a:p>
                  </a:txBody>
                  <a:tcPr>
                    <a:solidFill>
                      <a:srgbClr val="F6F8FB"/>
                    </a:solidFill>
                  </a:tcPr>
                </a:tc>
                <a:tc>
                  <a:txBody>
                    <a:bodyPr/>
                    <a:lstStyle/>
                    <a:p>
                      <a:r>
                        <a:rPr sz="900">
                          <a:solidFill>
                            <a:srgbClr val="1C1C1C"/>
                          </a:solidFill>
                        </a:rPr>
                        <a:t>Source Selection Plan (SSP)</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bl>
          </a:graphicData>
        </a:graphic>
      </p:graphicFrame>
      <p:sp>
        <p:nvSpPr>
          <p:cNvPr id="5" name="TextBox 4"/>
          <p:cNvSpPr txBox="1"/>
          <p:nvPr/>
        </p:nvSpPr>
        <p:spPr>
          <a:xfrm>
            <a:off x="457200" y="6263640"/>
            <a:ext cx="10972800" cy="457200"/>
          </a:xfrm>
          <a:prstGeom prst="rect">
            <a:avLst/>
          </a:prstGeom>
          <a:noFill/>
        </p:spPr>
        <p:txBody>
          <a:bodyPr wrap="none">
            <a:spAutoFit/>
          </a:bodyPr>
          <a:lstStyle/>
          <a:p>
            <a:r>
              <a:rPr sz="1100">
                <a:solidFill>
                  <a:srgbClr val="555555"/>
                </a:solidFill>
              </a:rPr>
              <a:t>Reviewer signature: ___________________________   Name / Title: ___________________________   Date: 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happens after approval</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800"/>
              </a:spcAft>
            </a:pPr>
            <a:r>
              <a:rPr sz="1400">
                <a:solidFill>
                  <a:srgbClr val="1C1C1C"/>
                </a:solidFill>
              </a:rPr>
              <a:t>1.  Approved templates -&gt; committed to server/app/doc_prompts.py as named constants.</a:t>
            </a:r>
          </a:p>
          <a:p>
            <a:pPr>
              <a:spcAft>
                <a:spcPts val="800"/>
              </a:spcAft>
            </a:pPr>
            <a:r>
              <a:rPr sz="1400">
                <a:solidFill>
                  <a:srgbClr val="1C1C1C"/>
                </a:solidFill>
              </a:rPr>
              <a:t>2.  Each slug's DocSpec.system_prompt updated to reference the new constant in server/app/doc_registry.py.</a:t>
            </a:r>
          </a:p>
          <a:p>
            <a:pPr>
              <a:spcAft>
                <a:spcPts val="800"/>
              </a:spcAft>
            </a:pPr>
            <a:r>
              <a:rPr sz="1400">
                <a:solidFill>
                  <a:srgbClr val="1C1C1C"/>
                </a:solidFill>
              </a:rPr>
              <a:t>3.  Module-load validator confirms registry consistency; unit tests run.</a:t>
            </a:r>
          </a:p>
          <a:p>
            <a:pPr>
              <a:spcAft>
                <a:spcPts val="800"/>
              </a:spcAft>
            </a:pPr>
            <a:r>
              <a:rPr sz="1400">
                <a:solidFill>
                  <a:srgbClr val="1C1C1C"/>
                </a:solidFill>
              </a:rPr>
              <a:t>4.  If green, changes ship in the next deployment.</a:t>
            </a:r>
          </a:p>
          <a:p>
            <a:pPr>
              <a:spcAft>
                <a:spcPts val="800"/>
              </a:spcAft>
            </a:pPr>
            <a:r>
              <a:rPr sz="1400">
                <a:solidFill>
                  <a:srgbClr val="1C1C1C"/>
                </a:solidFill>
              </a:rPr>
              <a:t>5.  APPROVED W/ CHANGES return to the platform team with the change list, then back here for re-review.</a:t>
            </a:r>
          </a:p>
          <a:p>
            <a:pPr>
              <a:spcAft>
                <a:spcPts val="800"/>
              </a:spcAft>
            </a:pPr>
            <a:r>
              <a:rPr sz="1400">
                <a:solidFill>
                  <a:srgbClr val="1C1C1C"/>
                </a:solidFill>
              </a:rPr>
              <a:t>6.  REJECTED - REWORK gets a fresh draft and re-enters this review cycle.</a:t>
            </a:r>
          </a:p>
          <a:p>
            <a:pPr>
              <a:spcAft>
                <a:spcPts val="800"/>
              </a:spcAft>
            </a:pPr>
            <a:r>
              <a:rPr sz="1400">
                <a:solidFill>
                  <a:srgbClr val="1C1C1C"/>
                </a:solidFill>
              </a:rPr>
              <a:t>7.  For qasp and section_889: if you identify an authoritative NCI/HHS source we missed, point us to it and we'll redraft with KB grounding.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