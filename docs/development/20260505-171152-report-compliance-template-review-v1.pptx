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03366"/>
                </a:solidFill>
              </a:rPr>
              <a:t>Compliance Template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C1C1C"/>
                </a:solidFill>
              </a:rPr>
              <a:t>Eight Acquisition Document Templates — Approval Requested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555"/>
                </a:solidFill>
              </a:rPr>
              <a:t>EAGLE Platform Team — NCI Office of Acquisitions</a:t>
            </a:r>
          </a:p>
          <a:p>
            <a:r>
              <a:rPr sz="1400">
                <a:solidFill>
                  <a:srgbClr val="555555"/>
                </a:solidFill>
              </a:rPr>
              <a:t>Date: 2026-05-05</a:t>
            </a:r>
          </a:p>
          <a:p>
            <a:r>
              <a:rPr sz="1400">
                <a:solidFill>
                  <a:srgbClr val="555555"/>
                </a:solidFill>
              </a:rPr>
              <a:t>Audience: Reviewing Compliance Officer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3366"/>
                </a:solidFill>
              </a:rPr>
              <a:t>Why this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C1C1C"/>
                </a:solidFill>
              </a:rPr>
              <a:t>•  EAGLE's document generator currently produces eight Tier A acquisition documents as raw markdown — no template structure.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C1C1C"/>
                </a:solidFill>
              </a:rPr>
              <a:t>•  Operators (contracting officers, card holders, SSAs) expect the standard federal layout when they print, sign, or attach these documents.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C1C1C"/>
                </a:solidFill>
              </a:rPr>
              <a:t>•  Each draft template is ~50 lines: persona statement, required sections, small worked example, generation rules.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C1C1C"/>
                </a:solidFill>
              </a:rPr>
              <a:t>•  All eight follow the uniform style of the existing 23 production prompts — review one, trust the rest.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C1C1C"/>
                </a:solidFill>
              </a:rPr>
              <a:t>•  Approval here is the gate before the templates ship into doc_prompts.py and the document registry.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3366"/>
                </a:solidFill>
              </a:rPr>
              <a:t>What we need from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03366"/>
                </a:solidFill>
              </a:rPr>
              <a:t>Authority:  </a:t>
            </a:r>
            <a:r>
              <a:rPr sz="1600">
                <a:solidFill>
                  <a:srgbClr val="1C1C1C"/>
                </a:solidFill>
              </a:rPr>
              <a:t>Are the FAR / HHSAR / agency policy citations correct and complete?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3366"/>
                </a:solidFill>
              </a:rPr>
              <a:t>Sections:  </a:t>
            </a:r>
            <a:r>
              <a:rPr sz="1600">
                <a:solidFill>
                  <a:srgbClr val="1C1C1C"/>
                </a:solidFill>
              </a:rPr>
              <a:t>Are all required sections present? Are any missing or unnecessary?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3366"/>
                </a:solidFill>
              </a:rPr>
              <a:t>Worked example:  </a:t>
            </a:r>
            <a:r>
              <a:rPr sz="1600">
                <a:solidFill>
                  <a:srgbClr val="1C1C1C"/>
                </a:solidFill>
              </a:rPr>
              <a:t>Does the example reflect the actual format operators expect to see?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3366"/>
                </a:solidFill>
              </a:rPr>
              <a:t>Rules:  </a:t>
            </a:r>
            <a:r>
              <a:rPr sz="1600">
                <a:solidFill>
                  <a:srgbClr val="1C1C1C"/>
                </a:solidFill>
              </a:rPr>
              <a:t>Are the generation guardrails appropriate? No missed regulatory requirements?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3366"/>
                </a:solidFill>
              </a:rPr>
              <a:t>Audience:  </a:t>
            </a:r>
            <a:r>
              <a:rPr sz="1600">
                <a:solidFill>
                  <a:srgbClr val="1C1C1C"/>
                </a:solidFill>
              </a:rPr>
              <a:t>Is the right reviewer / signer named for this document?</a:t>
            </a:r>
          </a:p>
          <a:p>
            <a:pPr>
              <a:spcBef>
                <a:spcPts val="2000"/>
              </a:spcBef>
            </a:pPr>
            <a:r>
              <a:rPr sz="1400" i="1">
                <a:solidFill>
                  <a:srgbClr val="555555"/>
                </a:solidFill>
              </a:rPr>
              <a:t>Mark each: APPROVED · APPROVED WITH CHANGES · REJECTED — REWORK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3366"/>
                </a:solidFill>
              </a:rPr>
              <a:t>Eight Templates</a:t>
            </a:r>
          </a:p>
          <a:p>
            <a:pPr>
              <a:spcBef>
                <a:spcPts val="1200"/>
              </a:spcBef>
            </a:pPr>
            <a:r>
              <a:rPr sz="1800">
                <a:solidFill>
                  <a:srgbClr val="555555"/>
                </a:solidFill>
              </a:rPr>
              <a:t>One slide per template — review structure, sections, and example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3366"/>
                </a:solidFill>
              </a:rPr>
              <a:t>Template 1 of 8 — COR Designation Letter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</a:rPr>
              <a:t>slug:  </a:t>
            </a:r>
            <a:r>
              <a:rPr sz="1100">
                <a:solidFill>
                  <a:srgbClr val="1C1C1C"/>
                </a:solidFill>
              </a:rPr>
              <a:t>cor_designation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</a:rPr>
              <a:t>authority:  </a:t>
            </a:r>
            <a:r>
              <a:rPr sz="1100">
                <a:solidFill>
                  <a:srgbClr val="1C1C1C"/>
                </a:solidFill>
              </a:rPr>
              <a:t>FAR 1.602-2(d), HHSAR 301.604, OFPP 05-01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</a:rPr>
              <a:t>audience:  </a:t>
            </a:r>
            <a:r>
              <a:rPr sz="1100">
                <a:solidFill>
                  <a:srgbClr val="1C1C1C"/>
                </a:solidFill>
              </a:rPr>
              <a:t>CO (signs), COR nominee (acknowledges), supervisor (cc)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6675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3366"/>
                </a:solidFill>
              </a:rPr>
              <a:t>Required Sections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1. </a:t>
            </a:r>
            <a:r>
              <a:rPr sz="1000" b="1">
                <a:solidFill>
                  <a:srgbClr val="1C1C1C"/>
                </a:solidFill>
              </a:rPr>
              <a:t>LETTERHEAD — </a:t>
            </a:r>
            <a:r>
              <a:rPr sz="1000">
                <a:solidFill>
                  <a:srgbClr val="555555"/>
                </a:solidFill>
              </a:rPr>
              <a:t>NCI/NIH letterhead, date, addressee block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2. </a:t>
            </a:r>
            <a:r>
              <a:rPr sz="1000" b="1">
                <a:solidFill>
                  <a:srgbClr val="1C1C1C"/>
                </a:solidFill>
              </a:rPr>
              <a:t>SUBJECT LINE — </a:t>
            </a:r>
            <a:r>
              <a:rPr sz="1000">
                <a:solidFill>
                  <a:srgbClr val="555555"/>
                </a:solidFill>
              </a:rPr>
              <a:t>Designation as COR — Contract [Number]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3. </a:t>
            </a:r>
            <a:r>
              <a:rPr sz="1000" b="1">
                <a:solidFill>
                  <a:srgbClr val="1C1C1C"/>
                </a:solidFill>
              </a:rPr>
              <a:t>DESIGNATION STATEMENT — </a:t>
            </a:r>
            <a:r>
              <a:rPr sz="1000">
                <a:solidFill>
                  <a:srgbClr val="555555"/>
                </a:solidFill>
              </a:rPr>
              <a:t>Appointment invoking FAR 1.602-2(d)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4. </a:t>
            </a:r>
            <a:r>
              <a:rPr sz="1000" b="1">
                <a:solidFill>
                  <a:srgbClr val="1C1C1C"/>
                </a:solidFill>
              </a:rPr>
              <a:t>CONTRACT IDENTIFICATION — </a:t>
            </a:r>
            <a:r>
              <a:rPr sz="1000">
                <a:solidFill>
                  <a:srgbClr val="555555"/>
                </a:solidFill>
              </a:rPr>
              <a:t>Number, contractor, PoP, value, type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5. </a:t>
            </a:r>
            <a:r>
              <a:rPr sz="1000" b="1">
                <a:solidFill>
                  <a:srgbClr val="1C1C1C"/>
                </a:solidFill>
              </a:rPr>
              <a:t>AUTHORIZED DUTIES — </a:t>
            </a:r>
            <a:r>
              <a:rPr sz="1000">
                <a:solidFill>
                  <a:srgbClr val="555555"/>
                </a:solidFill>
              </a:rPr>
              <a:t>Technical direction, inspection, CPARS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6. </a:t>
            </a:r>
            <a:r>
              <a:rPr sz="1000" b="1">
                <a:solidFill>
                  <a:srgbClr val="1C1C1C"/>
                </a:solidFill>
              </a:rPr>
              <a:t>LIMITATIONS — </a:t>
            </a:r>
            <a:r>
              <a:rPr sz="1000">
                <a:solidFill>
                  <a:srgbClr val="555555"/>
                </a:solidFill>
              </a:rPr>
              <a:t>Express prohibitions reserved to CO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7. </a:t>
            </a:r>
            <a:r>
              <a:rPr sz="1000" b="1">
                <a:solidFill>
                  <a:srgbClr val="1C1C1C"/>
                </a:solidFill>
              </a:rPr>
              <a:t>FAC-COR LEVEL — </a:t>
            </a:r>
            <a:r>
              <a:rPr sz="1000">
                <a:solidFill>
                  <a:srgbClr val="555555"/>
                </a:solidFill>
              </a:rPr>
              <a:t>Required level (I/II/III) for complexity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8. </a:t>
            </a:r>
            <a:r>
              <a:rPr sz="1000" b="1">
                <a:solidFill>
                  <a:srgbClr val="1C1C1C"/>
                </a:solidFill>
              </a:rPr>
              <a:t>REPORTING CADENCE — </a:t>
            </a:r>
            <a:r>
              <a:rPr sz="1000">
                <a:solidFill>
                  <a:srgbClr val="555555"/>
                </a:solidFill>
              </a:rPr>
              <a:t>Routine reports + immediate-notice events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9. </a:t>
            </a:r>
            <a:r>
              <a:rPr sz="1000" b="1">
                <a:solidFill>
                  <a:srgbClr val="1C1C1C"/>
                </a:solidFill>
              </a:rPr>
              <a:t>REVOCATION CLAUSE — </a:t>
            </a:r>
            <a:r>
              <a:rPr sz="1000">
                <a:solidFill>
                  <a:srgbClr val="555555"/>
                </a:solidFill>
              </a:rPr>
              <a:t>Revocable in writing; auto-terminates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10. </a:t>
            </a:r>
            <a:r>
              <a:rPr sz="1000" b="1">
                <a:solidFill>
                  <a:srgbClr val="1C1C1C"/>
                </a:solidFill>
              </a:rPr>
              <a:t>ACKNOWLEDGEMENT — </a:t>
            </a:r>
            <a:r>
              <a:rPr sz="1000">
                <a:solidFill>
                  <a:srgbClr val="555555"/>
                </a:solidFill>
              </a:rPr>
              <a:t>COR nominee accepts duties + limits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11. </a:t>
            </a:r>
            <a:r>
              <a:rPr sz="1000" b="1">
                <a:solidFill>
                  <a:srgbClr val="1C1C1C"/>
                </a:solidFill>
              </a:rPr>
              <a:t>SIGNATURE — </a:t>
            </a:r>
            <a:r>
              <a:rPr sz="1000">
                <a:solidFill>
                  <a:srgbClr val="555555"/>
                </a:solidFill>
              </a:rPr>
              <a:t>Contracting Officer + cc 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331720"/>
            <a:ext cx="4114800" cy="42062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B0C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2468880"/>
            <a:ext cx="3840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3366"/>
                </a:solidFill>
              </a:rPr>
              <a:t>Worked Example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C1C1C"/>
                </a:solidFill>
              </a:rPr>
              <a:t>6. LIMITATIONS — Pursuant to FAR 1.602-2(d), the following are reserved exclusively to the CO and may NOT be undertaken by the COR for Contract HHSN272201800001I (Illumina BaseSpace maintenance):
  1. Modify price, PoP, or scope of work.
  2. Authorize work outside the SOW or any cost overrun.
  3. Make any commitment that obligates the Government.
  4. Release source-selection-sensitive information.
  5. Settle claims or invoice disputes without CO approval.
Any action exceeding this delegation is an unauthorized commitment and may create personal liability for the COR.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3366"/>
                </a:solidFill>
              </a:rPr>
              <a:t>Template 2 of 8 — HHS-653 Small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</a:rPr>
              <a:t>slug:  </a:t>
            </a:r>
            <a:r>
              <a:rPr sz="1100">
                <a:solidFill>
                  <a:srgbClr val="1C1C1C"/>
                </a:solidFill>
              </a:rPr>
              <a:t>sb_review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</a:rPr>
              <a:t>authority:  </a:t>
            </a:r>
            <a:r>
              <a:rPr sz="1100">
                <a:solidFill>
                  <a:srgbClr val="1C1C1C"/>
                </a:solidFill>
              </a:rPr>
              <a:t>FAR Part 19, HHSAR 319, FAR 19.502 (Rule of Two)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</a:rPr>
              <a:t>audience:  </a:t>
            </a:r>
            <a:r>
              <a:rPr sz="1100">
                <a:solidFill>
                  <a:srgbClr val="1C1C1C"/>
                </a:solidFill>
              </a:rPr>
              <a:t>Small Business Specialist, CO, SSA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6675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3366"/>
                </a:solidFill>
              </a:rPr>
              <a:t>Required Sections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1. </a:t>
            </a:r>
            <a:r>
              <a:rPr sz="1000" b="1">
                <a:solidFill>
                  <a:srgbClr val="1C1C1C"/>
                </a:solidFill>
              </a:rPr>
              <a:t>FORM HEADER — </a:t>
            </a:r>
            <a:r>
              <a:rPr sz="1000">
                <a:solidFill>
                  <a:srgbClr val="555555"/>
                </a:solidFill>
              </a:rPr>
              <a:t>Estimated value, NAICS, size standard, activity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2. </a:t>
            </a:r>
            <a:r>
              <a:rPr sz="1000" b="1">
                <a:solidFill>
                  <a:srgbClr val="1C1C1C"/>
                </a:solidFill>
              </a:rPr>
              <a:t>REQUIREMENT SUMMARY — </a:t>
            </a:r>
            <a:r>
              <a:rPr sz="1000">
                <a:solidFill>
                  <a:srgbClr val="555555"/>
                </a:solidFill>
              </a:rPr>
              <a:t>What is being acquired + PoP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3. </a:t>
            </a:r>
            <a:r>
              <a:rPr sz="1000" b="1">
                <a:solidFill>
                  <a:srgbClr val="1C1C1C"/>
                </a:solidFill>
              </a:rPr>
              <a:t>SB PROGRAM ASSESSMENT — </a:t>
            </a:r>
            <a:r>
              <a:rPr sz="1000">
                <a:solidFill>
                  <a:srgbClr val="555555"/>
                </a:solidFill>
              </a:rPr>
              <a:t>8(a)/HUBZone/SDVOSB/WOSB/SB grid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4. </a:t>
            </a:r>
            <a:r>
              <a:rPr sz="1000" b="1">
                <a:solidFill>
                  <a:srgbClr val="1C1C1C"/>
                </a:solidFill>
              </a:rPr>
              <a:t>MARKET RESEARCH BASIS — </a:t>
            </a:r>
            <a:r>
              <a:rPr sz="1000">
                <a:solidFill>
                  <a:srgbClr val="555555"/>
                </a:solidFill>
              </a:rPr>
              <a:t>Sources sought, SAM searches, history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5. </a:t>
            </a:r>
            <a:r>
              <a:rPr sz="1000" b="1">
                <a:solidFill>
                  <a:srgbClr val="1C1C1C"/>
                </a:solidFill>
              </a:rPr>
              <a:t>NAICS / PSC ANALYSIS — </a:t>
            </a:r>
            <a:r>
              <a:rPr sz="1000">
                <a:solidFill>
                  <a:srgbClr val="555555"/>
                </a:solidFill>
              </a:rPr>
              <a:t>Confirm size standard + receipts/employee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6. </a:t>
            </a:r>
            <a:r>
              <a:rPr sz="1000" b="1">
                <a:solidFill>
                  <a:srgbClr val="1C1C1C"/>
                </a:solidFill>
              </a:rPr>
              <a:t>RECOMMENDATION — </a:t>
            </a:r>
            <a:r>
              <a:rPr sz="1000">
                <a:solidFill>
                  <a:srgbClr val="555555"/>
                </a:solidFill>
              </a:rPr>
              <a:t>Recommended set-aside or unrestricted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7. </a:t>
            </a:r>
            <a:r>
              <a:rPr sz="1000" b="1">
                <a:solidFill>
                  <a:srgbClr val="1C1C1C"/>
                </a:solidFill>
              </a:rPr>
              <a:t>SB SPECIALIST CONCURRENCE — </a:t>
            </a:r>
            <a:r>
              <a:rPr sz="1000">
                <a:solidFill>
                  <a:srgbClr val="555555"/>
                </a:solidFill>
              </a:rPr>
              <a:t>Name, signature, date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8. </a:t>
            </a:r>
            <a:r>
              <a:rPr sz="1000" b="1">
                <a:solidFill>
                  <a:srgbClr val="1C1C1C"/>
                </a:solidFill>
              </a:rPr>
              <a:t>CO DETERMINATION — </a:t>
            </a:r>
            <a:r>
              <a:rPr sz="1000">
                <a:solidFill>
                  <a:srgbClr val="555555"/>
                </a:solidFill>
              </a:rPr>
              <a:t>Name, signature, 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331720"/>
            <a:ext cx="4114800" cy="42062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B0C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2468880"/>
            <a:ext cx="3840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3366"/>
                </a:solidFill>
              </a:rPr>
              <a:t>Worked Example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C1C1C"/>
                </a:solidFill>
              </a:rPr>
              <a:t>3. SB PROGRAM ASSESSMENT — NAICS 541512, $280K annual.
  • 8(a) Suitable? NO — incumbent is large business; transition     not feasible within 60-day expiration.
  • HUBZone? NO — sole-source product; no HUBZone vendor.
  • SDVOSB / WOSB? NO — proprietary product, no qualified SB.
  • Rule of Two (FAR 19.502)? NO — single-source product.
Recommendation: Unrestricted sole source per FAR 6.302-1; rationale supported by sources sought — zero responses.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3366"/>
                </a:solidFill>
              </a:rPr>
              <a:t>Template 3 of 8 — Section 889 Compliance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</a:rPr>
              <a:t>slug:  </a:t>
            </a:r>
            <a:r>
              <a:rPr sz="1100">
                <a:solidFill>
                  <a:srgbClr val="1C1C1C"/>
                </a:solidFill>
              </a:rPr>
              <a:t>section_889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</a:rPr>
              <a:t>authority:  </a:t>
            </a:r>
            <a:r>
              <a:rPr sz="1100">
                <a:solidFill>
                  <a:srgbClr val="1C1C1C"/>
                </a:solidFill>
              </a:rPr>
              <a:t>FAR 4.21, FAR 52.204-24/25/26, NDAA FY2019 § 889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</a:rPr>
              <a:t>audience:  </a:t>
            </a:r>
            <a:r>
              <a:rPr sz="1100">
                <a:solidFill>
                  <a:srgbClr val="1C1C1C"/>
                </a:solidFill>
              </a:rPr>
              <a:t>CO, vendor (representations), agency leadership (waivers)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6675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3366"/>
                </a:solidFill>
              </a:rPr>
              <a:t>Required Sections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1. </a:t>
            </a:r>
            <a:r>
              <a:rPr sz="1000" b="1">
                <a:solidFill>
                  <a:srgbClr val="1C1C1C"/>
                </a:solidFill>
              </a:rPr>
              <a:t>MEMO HEADER — </a:t>
            </a:r>
            <a:r>
              <a:rPr sz="1000">
                <a:solidFill>
                  <a:srgbClr val="555555"/>
                </a:solidFill>
              </a:rPr>
              <a:t>Requirement, contract #, value, CO, date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2. </a:t>
            </a:r>
            <a:r>
              <a:rPr sz="1000" b="1">
                <a:solidFill>
                  <a:srgbClr val="1C1C1C"/>
                </a:solidFill>
              </a:rPr>
              <a:t>APPLICABILITY — </a:t>
            </a:r>
            <a:r>
              <a:rPr sz="1000">
                <a:solidFill>
                  <a:srgbClr val="555555"/>
                </a:solidFill>
              </a:rPr>
              <a:t>Part A (use) and/or Part B (essential component)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3. </a:t>
            </a:r>
            <a:r>
              <a:rPr sz="1000" b="1">
                <a:solidFill>
                  <a:srgbClr val="1C1C1C"/>
                </a:solidFill>
              </a:rPr>
              <a:t>COVERED ENTITIES — </a:t>
            </a:r>
            <a:r>
              <a:rPr sz="1000">
                <a:solidFill>
                  <a:srgbClr val="555555"/>
                </a:solidFill>
              </a:rPr>
              <a:t>Huawei, ZTE, Hytera, Hikvision, Dahua + affiliates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4. </a:t>
            </a:r>
            <a:r>
              <a:rPr sz="1000" b="1">
                <a:solidFill>
                  <a:srgbClr val="1C1C1C"/>
                </a:solidFill>
              </a:rPr>
              <a:t>REPRESENTATION REVIEW — </a:t>
            </a:r>
            <a:r>
              <a:rPr sz="1000">
                <a:solidFill>
                  <a:srgbClr val="555555"/>
                </a:solidFill>
              </a:rPr>
              <a:t>FAR 52.204-24 + 52.204-26 + date checked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5. </a:t>
            </a:r>
            <a:r>
              <a:rPr sz="1000" b="1">
                <a:solidFill>
                  <a:srgbClr val="1C1C1C"/>
                </a:solidFill>
              </a:rPr>
              <a:t>SAM.gov VERIFICATION — </a:t>
            </a:r>
            <a:r>
              <a:rPr sz="1000">
                <a:solidFill>
                  <a:srgbClr val="555555"/>
                </a:solidFill>
              </a:rPr>
              <a:t>Lookup date + result + screenshot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6. </a:t>
            </a:r>
            <a:r>
              <a:rPr sz="1000" b="1">
                <a:solidFill>
                  <a:srgbClr val="1C1C1C"/>
                </a:solidFill>
              </a:rPr>
              <a:t>WAIVER STATUS — </a:t>
            </a:r>
            <a:r>
              <a:rPr sz="1000">
                <a:solidFill>
                  <a:srgbClr val="555555"/>
                </a:solidFill>
              </a:rPr>
              <a:t>FAR 4.2104 cite + expiration if applicable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7. </a:t>
            </a:r>
            <a:r>
              <a:rPr sz="1000" b="1">
                <a:solidFill>
                  <a:srgbClr val="1C1C1C"/>
                </a:solidFill>
              </a:rPr>
              <a:t>REPORTING OBLIGATIONS — </a:t>
            </a:r>
            <a:r>
              <a:rPr sz="1000">
                <a:solidFill>
                  <a:srgbClr val="555555"/>
                </a:solidFill>
              </a:rPr>
              <a:t>52.204-25(d) 1-day / 10-day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8. </a:t>
            </a:r>
            <a:r>
              <a:rPr sz="1000" b="1">
                <a:solidFill>
                  <a:srgbClr val="1C1C1C"/>
                </a:solidFill>
              </a:rPr>
              <a:t>FINDING — </a:t>
            </a:r>
            <a:r>
              <a:rPr sz="1000">
                <a:solidFill>
                  <a:srgbClr val="555555"/>
                </a:solidFill>
              </a:rPr>
              <a:t>Award is/is not permitted under FAR 4.21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9. </a:t>
            </a:r>
            <a:r>
              <a:rPr sz="1000" b="1">
                <a:solidFill>
                  <a:srgbClr val="1C1C1C"/>
                </a:solidFill>
              </a:rPr>
              <a:t>SIGNATURE — </a:t>
            </a:r>
            <a:r>
              <a:rPr sz="1000">
                <a:solidFill>
                  <a:srgbClr val="555555"/>
                </a:solidFill>
              </a:rPr>
              <a:t>Contracting officer, 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331720"/>
            <a:ext cx="4114800" cy="42062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B0C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2468880"/>
            <a:ext cx="3840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3366"/>
                </a:solidFill>
              </a:rPr>
              <a:t>Worked Example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C1C1C"/>
                </a:solidFill>
              </a:rPr>
              <a:t>4. REPRESENTATION REVIEW — Illumina Inc., UEI ABC123
  • FAR 52.204-24 (offer-level rep): Submitted 2026-05-05.     Section A (covered telecom): NO. Section B (substantial     or essential component): NO.
  • FAR 52.204-26 (annual rep): Verified active in SAM.gov     on 2026-05-05; SAM annual rep dated 2026-02-14.
  • Discrepancies: None.
  • Waiver: Not applicable.
Determination: Section 889 representations support award.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3366"/>
                </a:solidFill>
              </a:rPr>
              <a:t>Template 4 of 8 — Section 508 Compliance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</a:rPr>
              <a:t>slug:  </a:t>
            </a:r>
            <a:r>
              <a:rPr sz="1100">
                <a:solidFill>
                  <a:srgbClr val="1C1C1C"/>
                </a:solidFill>
              </a:rPr>
              <a:t>section_508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</a:rPr>
              <a:t>authority:  </a:t>
            </a:r>
            <a:r>
              <a:rPr sz="1100">
                <a:solidFill>
                  <a:srgbClr val="1C1C1C"/>
                </a:solidFill>
              </a:rPr>
              <a:t>29 USC 794d, 36 CFR 1194 (Revised 508), FAR 39.2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</a:rPr>
              <a:t>audience:  </a:t>
            </a:r>
            <a:r>
              <a:rPr sz="1100">
                <a:solidFill>
                  <a:srgbClr val="1C1C1C"/>
                </a:solidFill>
              </a:rPr>
              <a:t>508 Coordinator, CO, vendor (VPAT submission)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6675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3366"/>
                </a:solidFill>
              </a:rPr>
              <a:t>Required Sections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1. </a:t>
            </a:r>
            <a:r>
              <a:rPr sz="1000" b="1">
                <a:solidFill>
                  <a:srgbClr val="1C1C1C"/>
                </a:solidFill>
              </a:rPr>
              <a:t>APPLICABILITY — </a:t>
            </a:r>
            <a:r>
              <a:rPr sz="1000">
                <a:solidFill>
                  <a:srgbClr val="555555"/>
                </a:solidFill>
              </a:rPr>
              <a:t>Does this acquisition include EIT?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2. </a:t>
            </a:r>
            <a:r>
              <a:rPr sz="1000" b="1">
                <a:solidFill>
                  <a:srgbClr val="1C1C1C"/>
                </a:solidFill>
              </a:rPr>
              <a:t>PRODUCT TYPE CHECKLIST — </a:t>
            </a:r>
            <a:r>
              <a:rPr sz="1000">
                <a:solidFill>
                  <a:srgbClr val="555555"/>
                </a:solidFill>
              </a:rPr>
              <a:t>Software/Web/Telecom/Video/SC/Desktop/E-Doc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3. </a:t>
            </a:r>
            <a:r>
              <a:rPr sz="1000" b="1">
                <a:solidFill>
                  <a:srgbClr val="1C1C1C"/>
                </a:solidFill>
              </a:rPr>
              <a:t>EXCEPTION DETERMINATION — </a:t>
            </a:r>
            <a:r>
              <a:rPr sz="1000">
                <a:solidFill>
                  <a:srgbClr val="555555"/>
                </a:solidFill>
              </a:rPr>
              <a:t>Nat-sec / incidental / micro / fund-alt / undue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4. </a:t>
            </a:r>
            <a:r>
              <a:rPr sz="1000" b="1">
                <a:solidFill>
                  <a:srgbClr val="1C1C1C"/>
                </a:solidFill>
              </a:rPr>
              <a:t>VPAT/ACR STATUS — </a:t>
            </a:r>
            <a:r>
              <a:rPr sz="1000">
                <a:solidFill>
                  <a:srgbClr val="555555"/>
                </a:solidFill>
              </a:rPr>
              <a:t>Vendor accessibility conformance report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5. </a:t>
            </a:r>
            <a:r>
              <a:rPr sz="1000" b="1">
                <a:solidFill>
                  <a:srgbClr val="1C1C1C"/>
                </a:solidFill>
              </a:rPr>
              <a:t>CONTRACT LANGUAGE — </a:t>
            </a:r>
            <a:r>
              <a:rPr sz="1000">
                <a:solidFill>
                  <a:srgbClr val="555555"/>
                </a:solidFill>
              </a:rPr>
              <a:t>SOW + eval criteria + clause checklist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6. </a:t>
            </a:r>
            <a:r>
              <a:rPr sz="1000" b="1">
                <a:solidFill>
                  <a:srgbClr val="1C1C1C"/>
                </a:solidFill>
              </a:rPr>
              <a:t>508 COORDINATOR REVIEW — </a:t>
            </a:r>
            <a:r>
              <a:rPr sz="1000">
                <a:solidFill>
                  <a:srgbClr val="555555"/>
                </a:solidFill>
              </a:rPr>
              <a:t>Reviewer name, date, finding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7. </a:t>
            </a:r>
            <a:r>
              <a:rPr sz="1000" b="1">
                <a:solidFill>
                  <a:srgbClr val="1C1C1C"/>
                </a:solidFill>
              </a:rPr>
              <a:t>REQUIRED CLAUSES — </a:t>
            </a:r>
            <a:r>
              <a:rPr sz="1000">
                <a:solidFill>
                  <a:srgbClr val="555555"/>
                </a:solidFill>
              </a:rPr>
              <a:t>FAR 52.239-1, HHSAR 352.239-73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8. </a:t>
            </a:r>
            <a:r>
              <a:rPr sz="1000" b="1">
                <a:solidFill>
                  <a:srgbClr val="1C1C1C"/>
                </a:solidFill>
              </a:rPr>
              <a:t>SIGNATURE — </a:t>
            </a:r>
            <a:r>
              <a:rPr sz="1000">
                <a:solidFill>
                  <a:srgbClr val="555555"/>
                </a:solidFill>
              </a:rPr>
              <a:t>Contracting officer, 508 coordinator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331720"/>
            <a:ext cx="4114800" cy="42062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B0C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2468880"/>
            <a:ext cx="3840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3366"/>
                </a:solidFill>
              </a:rPr>
              <a:t>Worked Example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C1C1C"/>
                </a:solidFill>
              </a:rPr>
              <a:t>2. PRODUCT TYPE CHECKLIST — Cloud genomics analysis platform
  ☑ Software — Yes (SaaS web app)
  ☑ Web — Yes (browser-based UI)
  ☐ Telecom — No
  ☐ Video — No
  ☐ Self-Contained / Closed Products — No
  ☐ Desktop / Mobile Devices — No
  ☑ Electronic Documents — Yes (PDF reports, exports)
Pre-checked from contract context (description = 'cloud-based genomics analysis platform with reporting'). Vendor must submit current VPAT-ACR for Software, Web, and Electronic Documents.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3366"/>
                </a:solidFill>
              </a:rPr>
              <a:t>Template 5 of 8 — Required &amp; Priority Sources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</a:rPr>
              <a:t>slug:  </a:t>
            </a:r>
            <a:r>
              <a:rPr sz="1100">
                <a:solidFill>
                  <a:srgbClr val="1C1C1C"/>
                </a:solidFill>
              </a:rPr>
              <a:t>priority_sources_checklist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</a:rPr>
              <a:t>authority:  </a:t>
            </a:r>
            <a:r>
              <a:rPr sz="1100">
                <a:solidFill>
                  <a:srgbClr val="1C1C1C"/>
                </a:solidFill>
              </a:rPr>
              <a:t>FAR Part 8, HHS supplemental, FAR 8.002(a)(1)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</a:rPr>
              <a:t>audience:  </a:t>
            </a:r>
            <a:r>
              <a:rPr sz="1100">
                <a:solidFill>
                  <a:srgbClr val="1C1C1C"/>
                </a:solidFill>
              </a:rPr>
              <a:t>Card holder / CO; AbilityOne / UNICOR; Strategic Sourcing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6675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3366"/>
                </a:solidFill>
              </a:rPr>
              <a:t>Required Sections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1. </a:t>
            </a:r>
            <a:r>
              <a:rPr sz="1000" b="1">
                <a:solidFill>
                  <a:srgbClr val="1C1C1C"/>
                </a:solidFill>
              </a:rPr>
              <a:t>HEADER — </a:t>
            </a:r>
            <a:r>
              <a:rPr sz="1000">
                <a:solidFill>
                  <a:srgbClr val="555555"/>
                </a:solidFill>
              </a:rPr>
              <a:t>Title, value, requestor, CO, date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2. </a:t>
            </a:r>
            <a:r>
              <a:rPr sz="1000" b="1">
                <a:solidFill>
                  <a:srgbClr val="1C1C1C"/>
                </a:solidFill>
              </a:rPr>
              <a:t>REQUIREMENT SUMMARY — </a:t>
            </a:r>
            <a:r>
              <a:rPr sz="1000">
                <a:solidFill>
                  <a:srgbClr val="555555"/>
                </a:solidFill>
              </a:rPr>
              <a:t>2-3 sentence description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3. </a:t>
            </a:r>
            <a:r>
              <a:rPr sz="1000" b="1">
                <a:solidFill>
                  <a:srgbClr val="1C1C1C"/>
                </a:solidFill>
              </a:rPr>
              <a:t>PRIORITY-OF-USE TABLE — </a:t>
            </a:r>
            <a:r>
              <a:rPr sz="1000">
                <a:solidFill>
                  <a:srgbClr val="555555"/>
                </a:solidFill>
              </a:rPr>
              <a:t>8 sources in FAR Part 8 order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4. </a:t>
            </a:r>
            <a:r>
              <a:rPr sz="1000" b="1">
                <a:solidFill>
                  <a:srgbClr val="1C1C1C"/>
                </a:solidFill>
              </a:rPr>
              <a:t>AbilityOne / UNICOR DETERMINATION — </a:t>
            </a:r>
            <a:r>
              <a:rPr sz="1000">
                <a:solidFill>
                  <a:srgbClr val="555555"/>
                </a:solidFill>
              </a:rPr>
              <a:t>Mandatory if on Procurement List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5. </a:t>
            </a:r>
            <a:r>
              <a:rPr sz="1000" b="1">
                <a:solidFill>
                  <a:srgbClr val="1C1C1C"/>
                </a:solidFill>
              </a:rPr>
              <a:t>STRATEGIC SOURCING / BIC — </a:t>
            </a:r>
            <a:r>
              <a:rPr sz="1000">
                <a:solidFill>
                  <a:srgbClr val="555555"/>
                </a:solidFill>
              </a:rPr>
              <a:t>BIC vehicle note + rationale if not used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6. </a:t>
            </a:r>
            <a:r>
              <a:rPr sz="1000" b="1">
                <a:solidFill>
                  <a:srgbClr val="1C1C1C"/>
                </a:solidFill>
              </a:rPr>
              <a:t>FINDING — </a:t>
            </a:r>
            <a:r>
              <a:rPr sz="1000">
                <a:solidFill>
                  <a:srgbClr val="555555"/>
                </a:solidFill>
              </a:rPr>
              <a:t>Selected source + cite to FAR 8.xxx subsection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7. </a:t>
            </a:r>
            <a:r>
              <a:rPr sz="1000" b="1">
                <a:solidFill>
                  <a:srgbClr val="1C1C1C"/>
                </a:solidFill>
              </a:rPr>
              <a:t>SIGNATURE — </a:t>
            </a:r>
            <a:r>
              <a:rPr sz="1000">
                <a:solidFill>
                  <a:srgbClr val="555555"/>
                </a:solidFill>
              </a:rPr>
              <a:t>Card holder / contracting officer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331720"/>
            <a:ext cx="4114800" cy="42062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B0C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2468880"/>
            <a:ext cx="3840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3366"/>
                </a:solidFill>
              </a:rPr>
              <a:t>Worked Example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C1C1C"/>
                </a:solidFill>
              </a:rPr>
              <a:t>3. PRIORITY-OF-USE TABLE — Office supplies, $7,500 micro-purchase
  1. Agency inventory — Checked. None available in storeroom.
  2. Excess from other agencies — N/A (commodity, not surplus).
  3. UNICOR — Checked AbilityOne PL ✓. Item NOT on PL.
  4. AbilityOne — Checked AbilityOne PL ✓. Item NOT on PL.
  5. Wholesale supply — N/A (no DLA / GSA Global Supply match).
  6. Mandatory FSS — Checked GSA Schedule 36 ✓. Available.
Selection: Mandatory FSS (FAR 8.002(a)(1)(vi)).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3366"/>
                </a:solidFill>
              </a:rPr>
              <a:t>Template 6 of 8 — Subcontracting Plan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</a:rPr>
              <a:t>slug:  </a:t>
            </a:r>
            <a:r>
              <a:rPr sz="1100">
                <a:solidFill>
                  <a:srgbClr val="1C1C1C"/>
                </a:solidFill>
              </a:rPr>
              <a:t>subk_review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</a:rPr>
              <a:t>authority:  </a:t>
            </a:r>
            <a:r>
              <a:rPr sz="1100">
                <a:solidFill>
                  <a:srgbClr val="1C1C1C"/>
                </a:solidFill>
              </a:rPr>
              <a:t>FAR 19.705-4, FAR 52.219-9, HHSAR 352.219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</a:rPr>
              <a:t>audience:  </a:t>
            </a:r>
            <a:r>
              <a:rPr sz="1100">
                <a:solidFill>
                  <a:srgbClr val="1C1C1C"/>
                </a:solidFill>
              </a:rPr>
              <a:t>CO, SBS, SBA PCR (when applicable), SSA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6675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3366"/>
                </a:solidFill>
              </a:rPr>
              <a:t>Required Sections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1. </a:t>
            </a:r>
            <a:r>
              <a:rPr sz="1000" b="1">
                <a:solidFill>
                  <a:srgbClr val="1C1C1C"/>
                </a:solidFill>
              </a:rPr>
              <a:t>MEMO HEADER — </a:t>
            </a:r>
            <a:r>
              <a:rPr sz="1000">
                <a:solidFill>
                  <a:srgbClr val="555555"/>
                </a:solidFill>
              </a:rPr>
              <a:t>Date, contractor, contract #, plan version, reviewer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2. </a:t>
            </a:r>
            <a:r>
              <a:rPr sz="1000" b="1">
                <a:solidFill>
                  <a:srgbClr val="1C1C1C"/>
                </a:solidFill>
              </a:rPr>
              <a:t>PLAN TYPE — </a:t>
            </a:r>
            <a:r>
              <a:rPr sz="1000">
                <a:solidFill>
                  <a:srgbClr val="555555"/>
                </a:solidFill>
              </a:rPr>
              <a:t>Individual / Master / Commercial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3. </a:t>
            </a:r>
            <a:r>
              <a:rPr sz="1000" b="1">
                <a:solidFill>
                  <a:srgbClr val="1C1C1C"/>
                </a:solidFill>
              </a:rPr>
              <a:t>ADEQUACY CHECKLIST — </a:t>
            </a:r>
            <a:r>
              <a:rPr sz="1000">
                <a:solidFill>
                  <a:srgbClr val="555555"/>
                </a:solidFill>
              </a:rPr>
              <a:t>10-row table — each FAR 52.219-9 element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4. </a:t>
            </a:r>
            <a:r>
              <a:rPr sz="1000" b="1">
                <a:solidFill>
                  <a:srgbClr val="1C1C1C"/>
                </a:solidFill>
              </a:rPr>
              <a:t>GOAL REASONABLENESS — </a:t>
            </a:r>
            <a:r>
              <a:rPr sz="1000">
                <a:solidFill>
                  <a:srgbClr val="555555"/>
                </a:solidFill>
              </a:rPr>
              <a:t>Goals vs prior-year + industry benchmark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5. </a:t>
            </a:r>
            <a:r>
              <a:rPr sz="1000" b="1">
                <a:solidFill>
                  <a:srgbClr val="1C1C1C"/>
                </a:solidFill>
              </a:rPr>
              <a:t>FINDINGS — </a:t>
            </a:r>
            <a:r>
              <a:rPr sz="1000">
                <a:solidFill>
                  <a:srgbClr val="555555"/>
                </a:solidFill>
              </a:rPr>
              <a:t>Numbered list of deficiencies / changes required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6. </a:t>
            </a:r>
            <a:r>
              <a:rPr sz="1000" b="1">
                <a:solidFill>
                  <a:srgbClr val="1C1C1C"/>
                </a:solidFill>
              </a:rPr>
              <a:t>SBA PCR REVIEW — </a:t>
            </a:r>
            <a:r>
              <a:rPr sz="1000">
                <a:solidFill>
                  <a:srgbClr val="555555"/>
                </a:solidFill>
              </a:rPr>
              <a:t>PCR concurrence when applicable per 19.705-4(d)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7. </a:t>
            </a:r>
            <a:r>
              <a:rPr sz="1000" b="1">
                <a:solidFill>
                  <a:srgbClr val="1C1C1C"/>
                </a:solidFill>
              </a:rPr>
              <a:t>RECOMMENDATION — </a:t>
            </a:r>
            <a:r>
              <a:rPr sz="1000">
                <a:solidFill>
                  <a:srgbClr val="555555"/>
                </a:solidFill>
              </a:rPr>
              <a:t>Approve / Approve w/ revisions / Return / Reject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8. </a:t>
            </a:r>
            <a:r>
              <a:rPr sz="1000" b="1">
                <a:solidFill>
                  <a:srgbClr val="1C1C1C"/>
                </a:solidFill>
              </a:rPr>
              <a:t>SIGNATURE — </a:t>
            </a:r>
            <a:r>
              <a:rPr sz="1000">
                <a:solidFill>
                  <a:srgbClr val="555555"/>
                </a:solidFill>
              </a:rPr>
              <a:t>Contracting officer, 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331720"/>
            <a:ext cx="4114800" cy="42062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B0C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2468880"/>
            <a:ext cx="3840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3366"/>
                </a:solidFill>
              </a:rPr>
              <a:t>Worked Example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C1C1C"/>
                </a:solidFill>
              </a:rPr>
              <a:t>3. ADEQUACY CHECKLIST — Excerpt (3 of 10 rows)
  | # | Element                   | Present | Adequate | Notes |
  | 1 | Goals (SB/SDB/WOSB/HZ/...) |   ☑    |    ☑    | 28% SB|
  | 2 | Products/svc subcontracted |   ☑    |    ☑    | NAICS |
  | 3 | Method for developing goals|   ☑    |    ☐    | thin  |
Element 3 deficient: rationale references 'industry standard' without citing data. Return for revision with prior-year achievement + SBA market research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3366"/>
                </a:solidFill>
              </a:rPr>
              <a:t>Template 7 of 8 — Quality Assurance Surveillance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</a:rPr>
              <a:t>slug:  </a:t>
            </a:r>
            <a:r>
              <a:rPr sz="1100">
                <a:solidFill>
                  <a:srgbClr val="1C1C1C"/>
                </a:solidFill>
              </a:rPr>
              <a:t>qasp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</a:rPr>
              <a:t>authority:  </a:t>
            </a:r>
            <a:r>
              <a:rPr sz="1100">
                <a:solidFill>
                  <a:srgbClr val="1C1C1C"/>
                </a:solidFill>
              </a:rPr>
              <a:t>FAR 46.401, FAR 37.6 PBA, NIH PBA handbook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</a:rPr>
              <a:t>audience:  </a:t>
            </a:r>
            <a:r>
              <a:rPr sz="1100">
                <a:solidFill>
                  <a:srgbClr val="1C1C1C"/>
                </a:solidFill>
              </a:rPr>
              <a:t>COR (executes), CO (approves + remedies), contractor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6675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3366"/>
                </a:solidFill>
              </a:rPr>
              <a:t>Required Sections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1. </a:t>
            </a:r>
            <a:r>
              <a:rPr sz="1000" b="1">
                <a:solidFill>
                  <a:srgbClr val="1C1C1C"/>
                </a:solidFill>
              </a:rPr>
              <a:t>PURPOSE — </a:t>
            </a:r>
            <a:r>
              <a:rPr sz="1000">
                <a:solidFill>
                  <a:srgbClr val="555555"/>
                </a:solidFill>
              </a:rPr>
              <a:t>Methods + resources for performance monitoring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2. </a:t>
            </a:r>
            <a:r>
              <a:rPr sz="1000" b="1">
                <a:solidFill>
                  <a:srgbClr val="1C1C1C"/>
                </a:solidFill>
              </a:rPr>
              <a:t>SCOPE — </a:t>
            </a:r>
            <a:r>
              <a:rPr sz="1000">
                <a:solidFill>
                  <a:srgbClr val="555555"/>
                </a:solidFill>
              </a:rPr>
              <a:t>Linked PWS + objectives covered + period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3. </a:t>
            </a:r>
            <a:r>
              <a:rPr sz="1000" b="1">
                <a:solidFill>
                  <a:srgbClr val="1C1C1C"/>
                </a:solidFill>
              </a:rPr>
              <a:t>ROLES — </a:t>
            </a:r>
            <a:r>
              <a:rPr sz="1000">
                <a:solidFill>
                  <a:srgbClr val="555555"/>
                </a:solidFill>
              </a:rPr>
              <a:t>COR / CO / Tech POC / alternate / surveillance team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4. </a:t>
            </a:r>
            <a:r>
              <a:rPr sz="1000" b="1">
                <a:solidFill>
                  <a:srgbClr val="1C1C1C"/>
                </a:solidFill>
              </a:rPr>
              <a:t>OBJECTIVES TABLE — </a:t>
            </a:r>
            <a:r>
              <a:rPr sz="1000">
                <a:solidFill>
                  <a:srgbClr val="555555"/>
                </a:solidFill>
              </a:rPr>
              <a:t>1 row per PWS objective: AQL + method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5. </a:t>
            </a:r>
            <a:r>
              <a:rPr sz="1000" b="1">
                <a:solidFill>
                  <a:srgbClr val="1C1C1C"/>
                </a:solidFill>
              </a:rPr>
              <a:t>METHODS CATALOG — </a:t>
            </a:r>
            <a:r>
              <a:rPr sz="1000">
                <a:solidFill>
                  <a:srgbClr val="555555"/>
                </a:solidFill>
              </a:rPr>
              <a:t>100% / random / periodic / complaint / audit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6. </a:t>
            </a:r>
            <a:r>
              <a:rPr sz="1000" b="1">
                <a:solidFill>
                  <a:srgbClr val="1C1C1C"/>
                </a:solidFill>
              </a:rPr>
              <a:t>AQL DEFINITIONS — </a:t>
            </a:r>
            <a:r>
              <a:rPr sz="1000">
                <a:solidFill>
                  <a:srgbClr val="555555"/>
                </a:solidFill>
              </a:rPr>
              <a:t>Measurable units + calculation method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7. </a:t>
            </a:r>
            <a:r>
              <a:rPr sz="1000" b="1">
                <a:solidFill>
                  <a:srgbClr val="1C1C1C"/>
                </a:solidFill>
              </a:rPr>
              <a:t>INCENTIVES — </a:t>
            </a:r>
            <a:r>
              <a:rPr sz="1000">
                <a:solidFill>
                  <a:srgbClr val="555555"/>
                </a:solidFill>
              </a:rPr>
              <a:t>Award fee / cure / show-cause; omit if FFP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8. </a:t>
            </a:r>
            <a:r>
              <a:rPr sz="1000" b="1">
                <a:solidFill>
                  <a:srgbClr val="1C1C1C"/>
                </a:solidFill>
              </a:rPr>
              <a:t>DOCUMENTATION — </a:t>
            </a:r>
            <a:r>
              <a:rPr sz="1000">
                <a:solidFill>
                  <a:srgbClr val="555555"/>
                </a:solidFill>
              </a:rPr>
              <a:t>Logs, monthly assessments, CPARS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9. </a:t>
            </a:r>
            <a:r>
              <a:rPr sz="1000" b="1">
                <a:solidFill>
                  <a:srgbClr val="1C1C1C"/>
                </a:solidFill>
              </a:rPr>
              <a:t>SIGNATURE — </a:t>
            </a:r>
            <a:r>
              <a:rPr sz="1000">
                <a:solidFill>
                  <a:srgbClr val="555555"/>
                </a:solidFill>
              </a:rPr>
              <a:t>COR + Contracting Officer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331720"/>
            <a:ext cx="4114800" cy="42062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B0C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2468880"/>
            <a:ext cx="3840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3366"/>
                </a:solidFill>
              </a:rPr>
              <a:t>Worked Example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C1C1C"/>
                </a:solidFill>
              </a:rPr>
              <a:t>4. OBJECTIVES TABLE — Genomic data analysis platform
  | # | Objective         | PWS  | AQL              | Method  | Freq |
  | 1 | Platform uptime   | §5.1 | ≥99.5% monthly   | 100% telemetry | mo |
  | 2 | Tier-2 ticket SLA | §5.3 | ≥95% in 4 hrs    | random sample 20/mo | mo |
  | 3 | Compliance report | §5.7 | by 5th biz day; 0 critical findings | 100% on receipt | mo |
Method assignment: 1+3 use 100% (telemetry / single deliverable), 2 uses random sampling (&gt;500 tickets/mo makes 100% impractical).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3366"/>
                </a:solidFill>
              </a:rPr>
              <a:t>Template 8 of 8 — Source Selection Plan (SSP)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</a:rPr>
              <a:t>slug:  </a:t>
            </a:r>
            <a:r>
              <a:rPr sz="1100">
                <a:solidFill>
                  <a:srgbClr val="1C1C1C"/>
                </a:solidFill>
              </a:rPr>
              <a:t>source_selection_plan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</a:rPr>
              <a:t>authority:  </a:t>
            </a:r>
            <a:r>
              <a:rPr sz="1100">
                <a:solidFill>
                  <a:srgbClr val="1C1C1C"/>
                </a:solidFill>
              </a:rPr>
              <a:t>FAR 15.3, HHSAR 315.3, FAR 15.300-308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</a:rPr>
              <a:t>audience:  </a:t>
            </a:r>
            <a:r>
              <a:rPr sz="1100">
                <a:solidFill>
                  <a:srgbClr val="1C1C1C"/>
                </a:solidFill>
              </a:rPr>
              <a:t>SSA, CO, TET, Cost/Price, Legal counsel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6675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3366"/>
                </a:solidFill>
              </a:rPr>
              <a:t>Required Sections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1. </a:t>
            </a:r>
            <a:r>
              <a:rPr sz="1000" b="1">
                <a:solidFill>
                  <a:srgbClr val="1C1C1C"/>
                </a:solidFill>
              </a:rPr>
              <a:t>ACQUISITION OVERVIEW — </a:t>
            </a:r>
            <a:r>
              <a:rPr sz="1000">
                <a:solidFill>
                  <a:srgbClr val="555555"/>
                </a:solidFill>
              </a:rPr>
              <a:t>Title, value, PoP, NAICS, set-aside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2. </a:t>
            </a:r>
            <a:r>
              <a:rPr sz="1000" b="1">
                <a:solidFill>
                  <a:srgbClr val="1C1C1C"/>
                </a:solidFill>
              </a:rPr>
              <a:t>SSA DESIGNATION — </a:t>
            </a:r>
            <a:r>
              <a:rPr sz="1000">
                <a:solidFill>
                  <a:srgbClr val="555555"/>
                </a:solidFill>
              </a:rPr>
              <a:t>Source Selection Authority + decision authority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3. </a:t>
            </a:r>
            <a:r>
              <a:rPr sz="1000" b="1">
                <a:solidFill>
                  <a:srgbClr val="1C1C1C"/>
                </a:solidFill>
              </a:rPr>
              <a:t>SOURCE SELECTION TEAM — </a:t>
            </a:r>
            <a:r>
              <a:rPr sz="1000">
                <a:solidFill>
                  <a:srgbClr val="555555"/>
                </a:solidFill>
              </a:rPr>
              <a:t>SSA / CO / TET / Cost / Legal / SBS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4. </a:t>
            </a:r>
            <a:r>
              <a:rPr sz="1000" b="1">
                <a:solidFill>
                  <a:srgbClr val="1C1C1C"/>
                </a:solidFill>
              </a:rPr>
              <a:t>EVALUATION FACTORS — </a:t>
            </a:r>
            <a:r>
              <a:rPr sz="1000">
                <a:solidFill>
                  <a:srgbClr val="555555"/>
                </a:solidFill>
              </a:rPr>
              <a:t>Descending importance + subfactors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5. </a:t>
            </a:r>
            <a:r>
              <a:rPr sz="1000" b="1">
                <a:solidFill>
                  <a:srgbClr val="1C1C1C"/>
                </a:solidFill>
              </a:rPr>
              <a:t>METHODOLOGY — </a:t>
            </a:r>
            <a:r>
              <a:rPr sz="1000">
                <a:solidFill>
                  <a:srgbClr val="555555"/>
                </a:solidFill>
              </a:rPr>
              <a:t>Color/adjectival rating + risk + PP confidence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6. </a:t>
            </a:r>
            <a:r>
              <a:rPr sz="1000" b="1">
                <a:solidFill>
                  <a:srgbClr val="1C1C1C"/>
                </a:solidFill>
              </a:rPr>
              <a:t>PRICE/COST APPROACH — </a:t>
            </a:r>
            <a:r>
              <a:rPr sz="1000">
                <a:solidFill>
                  <a:srgbClr val="555555"/>
                </a:solidFill>
              </a:rPr>
              <a:t>FAR 15.404 techniques to be used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7. </a:t>
            </a:r>
            <a:r>
              <a:rPr sz="1000" b="1">
                <a:solidFill>
                  <a:srgbClr val="1C1C1C"/>
                </a:solidFill>
              </a:rPr>
              <a:t>COMMUNICATIONS — </a:t>
            </a:r>
            <a:r>
              <a:rPr sz="1000">
                <a:solidFill>
                  <a:srgbClr val="555555"/>
                </a:solidFill>
              </a:rPr>
              <a:t>Clarifications vs discussions per 15.306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8. </a:t>
            </a:r>
            <a:r>
              <a:rPr sz="1000" b="1">
                <a:solidFill>
                  <a:srgbClr val="1C1C1C"/>
                </a:solidFill>
              </a:rPr>
              <a:t>AWARD FRAMEWORK — </a:t>
            </a:r>
            <a:r>
              <a:rPr sz="1000">
                <a:solidFill>
                  <a:srgbClr val="555555"/>
                </a:solidFill>
              </a:rPr>
              <a:t>Best-value tradeoff vs LPTA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9. </a:t>
            </a:r>
            <a:r>
              <a:rPr sz="1000" b="1">
                <a:solidFill>
                  <a:srgbClr val="1C1C1C"/>
                </a:solidFill>
              </a:rPr>
              <a:t>DOCUMENTATION — </a:t>
            </a:r>
            <a:r>
              <a:rPr sz="1000">
                <a:solidFill>
                  <a:srgbClr val="555555"/>
                </a:solidFill>
              </a:rPr>
              <a:t>SSDD, debriefings, source selection statement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10. </a:t>
            </a:r>
            <a:r>
              <a:rPr sz="1000" b="1">
                <a:solidFill>
                  <a:srgbClr val="1C1C1C"/>
                </a:solidFill>
              </a:rPr>
              <a:t>SCHEDULE — </a:t>
            </a:r>
            <a:r>
              <a:rPr sz="1000">
                <a:solidFill>
                  <a:srgbClr val="555555"/>
                </a:solidFill>
              </a:rPr>
              <a:t>Solicitation through award milestones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03366"/>
                </a:solidFill>
              </a:rPr>
              <a:t>11. </a:t>
            </a:r>
            <a:r>
              <a:rPr sz="1000" b="1">
                <a:solidFill>
                  <a:srgbClr val="1C1C1C"/>
                </a:solidFill>
              </a:rPr>
              <a:t>APPROVALS — </a:t>
            </a:r>
            <a:r>
              <a:rPr sz="1000">
                <a:solidFill>
                  <a:srgbClr val="555555"/>
                </a:solidFill>
              </a:rPr>
              <a:t>SSA, CO, TET Chair signature block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331720"/>
            <a:ext cx="4114800" cy="42062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B0C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2468880"/>
            <a:ext cx="3840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3366"/>
                </a:solidFill>
              </a:rPr>
              <a:t>Worked Example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C1C1C"/>
                </a:solidFill>
              </a:rPr>
              <a:t>4. EVALUATION FACTORS — Cloud genomics platform
  Factor 1 — Technical / Mission Suitability (most important)
    1a. Solution architecture
    1b. Security &amp; compliance (FedRAMP, FISMA)
    1c. Implementation approach
  Factor 2 — Past Performance (significantly less than Factor 1)
  Factor 3 — Price / Cost (lowest)
Relative-importance statement: Technical and Past Performance combined are significantly more important than Price.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3366"/>
                </a:solidFill>
              </a:rPr>
              <a:t>Approval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4114800"/>
                <a:gridCol w="1280160"/>
                <a:gridCol w="1280160"/>
                <a:gridCol w="1280160"/>
                <a:gridCol w="2743200"/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Template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W/ CHANGES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Comments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1C1C"/>
                          </a:solidFill>
                        </a:rPr>
                        <a:t>COR Designation 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1C1C"/>
                          </a:solidFill>
                        </a:rPr>
                        <a:t>HHS-653 Small Business Review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1C1C"/>
                          </a:solidFill>
                        </a:rPr>
                        <a:t>Section 889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1C1C"/>
                          </a:solidFill>
                        </a:rPr>
                        <a:t>Section 508 Compliance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1C1C"/>
                          </a:solidFill>
                        </a:rPr>
                        <a:t>Required &amp; Priority Sources Checklist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1C1C"/>
                          </a:solidFill>
                        </a:rPr>
                        <a:t>Subcontracting Plan Review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1C1C"/>
                          </a:solidFill>
                        </a:rPr>
                        <a:t>Quality Assurance Surveillance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1C1C"/>
                          </a:solidFill>
                        </a:rPr>
                        <a:t>Source Selection Plan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C1C1C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Reviewer signature: ___________________________   Name / Title: ___________________________   Date: __________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3366"/>
                </a:solidFill>
              </a:rPr>
              <a:t>What happens after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C1C1C"/>
                </a:solidFill>
              </a:rPr>
              <a:t>1.  Approved templates → committed to server/app/doc_prompts.py as named constants.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C1C1C"/>
                </a:solidFill>
              </a:rPr>
              <a:t>2.  Each slug's DocSpec.system_prompt updated to reference the new constant in server/app/doc_registry.py.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C1C1C"/>
                </a:solidFill>
              </a:rPr>
              <a:t>3.  Module-load validator confirms registry consistency; unit tests run.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C1C1C"/>
                </a:solidFill>
              </a:rPr>
              <a:t>4.  If green, changes ship in the next deployment.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C1C1C"/>
                </a:solidFill>
              </a:rPr>
              <a:t>5.  APPROVED W/ CHANGES return to the platform team with the change list, then back here for re-review.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C1C1C"/>
                </a:solidFill>
              </a:rPr>
              <a:t>6.  REJECTED — REWORK gets a fresh draft and re-enters this review cycle.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